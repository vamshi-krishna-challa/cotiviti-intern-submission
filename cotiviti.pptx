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321" r:id="rId5"/>
    <p:sldId id="257" r:id="rId6"/>
    <p:sldId id="364" r:id="rId7"/>
    <p:sldId id="259" r:id="rId8"/>
    <p:sldId id="365" r:id="rId9"/>
    <p:sldId id="261" r:id="rId10"/>
    <p:sldId id="262" r:id="rId11"/>
    <p:sldId id="263" r:id="rId12"/>
    <p:sldId id="264" r:id="rId13"/>
    <p:sldId id="366" r:id="rId14"/>
    <p:sldId id="3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stin Dean" initials="JD" lastIdx="4" clrIdx="0">
    <p:extLst>
      <p:ext uri="{19B8F6BF-5375-455C-9EA6-DF929625EA0E}">
        <p15:presenceInfo xmlns:p15="http://schemas.microsoft.com/office/powerpoint/2012/main" userId="S::jdean@theadditiveagency.com::48d7c856-aa91-4f9a-9c9d-c7de74b978a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087"/>
    <a:srgbClr val="A0AAB2"/>
    <a:srgbClr val="727F8A"/>
    <a:srgbClr val="64B1E7"/>
    <a:srgbClr val="CB333B"/>
    <a:srgbClr val="405363"/>
    <a:srgbClr val="A3BAC2"/>
    <a:srgbClr val="D29000"/>
    <a:srgbClr val="0028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F7D6EE-C052-4ADB-B9DB-102E2085DCEB}" v="13" dt="2026-06-26T15:22:53.797"/>
  </p1510:revLst>
</p1510:revInfo>
</file>

<file path=ppt/tableStyles.xml><?xml version="1.0" encoding="utf-8"?>
<a:tblStyleLst xmlns:a="http://schemas.openxmlformats.org/drawingml/2006/main" def="{10A1B5D5-9B99-4C35-A422-299274C87663}">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32" autoAdjust="0"/>
    <p:restoredTop sz="89326"/>
  </p:normalViewPr>
  <p:slideViewPr>
    <p:cSldViewPr snapToGrid="0" snapToObjects="1">
      <p:cViewPr varScale="1">
        <p:scale>
          <a:sx n="98" d="100"/>
          <a:sy n="98" d="100"/>
        </p:scale>
        <p:origin x="472" y="68"/>
      </p:cViewPr>
      <p:guideLst/>
    </p:cSldViewPr>
  </p:slideViewPr>
  <p:outlineViewPr>
    <p:cViewPr>
      <p:scale>
        <a:sx n="33" d="100"/>
        <a:sy n="33" d="100"/>
      </p:scale>
      <p:origin x="0" y="-20128"/>
    </p:cViewPr>
  </p:outlineViewPr>
  <p:notesTextViewPr>
    <p:cViewPr>
      <p:scale>
        <a:sx n="1" d="1"/>
        <a:sy n="1" d="1"/>
      </p:scale>
      <p:origin x="0" y="0"/>
    </p:cViewPr>
  </p:notesTextViewPr>
  <p:sorterViewPr>
    <p:cViewPr>
      <p:scale>
        <a:sx n="152" d="100"/>
        <a:sy n="152" d="100"/>
      </p:scale>
      <p:origin x="0" y="0"/>
    </p:cViewPr>
  </p:sorterViewPr>
  <p:notesViewPr>
    <p:cSldViewPr snapToGrid="0" snapToObjects="1">
      <p:cViewPr varScale="1">
        <p:scale>
          <a:sx n="114" d="100"/>
          <a:sy n="114" d="100"/>
        </p:scale>
        <p:origin x="3544"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mshikrishna Challa" userId="361d534d44d751e8" providerId="LiveId" clId="{82A044CC-8F19-4C9E-A221-AE6EAD844961}"/>
    <pc:docChg chg="modSld">
      <pc:chgData name="Vamshikrishna Challa" userId="361d534d44d751e8" providerId="LiveId" clId="{82A044CC-8F19-4C9E-A221-AE6EAD844961}" dt="2026-06-26T15:22:53.797" v="1"/>
      <pc:docMkLst>
        <pc:docMk/>
      </pc:docMkLst>
      <pc:sldChg chg="addSp modSp modTransition modAnim">
        <pc:chgData name="Vamshikrishna Challa" userId="361d534d44d751e8" providerId="LiveId" clId="{82A044CC-8F19-4C9E-A221-AE6EAD844961}" dt="2026-06-26T15:22:53.797" v="1"/>
        <pc:sldMkLst>
          <pc:docMk/>
          <pc:sldMk cId="0" sldId="257"/>
        </pc:sldMkLst>
        <pc:picChg chg="add mod">
          <ac:chgData name="Vamshikrishna Challa" userId="361d534d44d751e8" providerId="LiveId" clId="{82A044CC-8F19-4C9E-A221-AE6EAD844961}" dt="2026-06-26T15:22:53.797" v="1"/>
          <ac:picMkLst>
            <pc:docMk/>
            <pc:sldMk cId="0" sldId="257"/>
            <ac:picMk id="12" creationId="{E6F765A9-73E8-B979-D4FE-C1AA37696884}"/>
          </ac:picMkLst>
        </pc:picChg>
      </pc:sldChg>
      <pc:sldChg chg="addSp modSp modTransition modAnim">
        <pc:chgData name="Vamshikrishna Challa" userId="361d534d44d751e8" providerId="LiveId" clId="{82A044CC-8F19-4C9E-A221-AE6EAD844961}" dt="2026-06-26T15:22:53.797" v="1"/>
        <pc:sldMkLst>
          <pc:docMk/>
          <pc:sldMk cId="0" sldId="259"/>
        </pc:sldMkLst>
        <pc:picChg chg="add mod">
          <ac:chgData name="Vamshikrishna Challa" userId="361d534d44d751e8" providerId="LiveId" clId="{82A044CC-8F19-4C9E-A221-AE6EAD844961}" dt="2026-06-26T15:22:53.797" v="1"/>
          <ac:picMkLst>
            <pc:docMk/>
            <pc:sldMk cId="0" sldId="259"/>
            <ac:picMk id="23" creationId="{FE881E4A-E1D9-686A-F49C-99CB1D9BD5D0}"/>
          </ac:picMkLst>
        </pc:picChg>
      </pc:sldChg>
      <pc:sldChg chg="addSp modSp modTransition modAnim">
        <pc:chgData name="Vamshikrishna Challa" userId="361d534d44d751e8" providerId="LiveId" clId="{82A044CC-8F19-4C9E-A221-AE6EAD844961}" dt="2026-06-26T15:22:53.797" v="1"/>
        <pc:sldMkLst>
          <pc:docMk/>
          <pc:sldMk cId="0" sldId="261"/>
        </pc:sldMkLst>
        <pc:picChg chg="add mod">
          <ac:chgData name="Vamshikrishna Challa" userId="361d534d44d751e8" providerId="LiveId" clId="{82A044CC-8F19-4C9E-A221-AE6EAD844961}" dt="2026-06-26T15:22:53.797" v="1"/>
          <ac:picMkLst>
            <pc:docMk/>
            <pc:sldMk cId="0" sldId="261"/>
            <ac:picMk id="23" creationId="{BAB97F96-EC1E-3361-40C4-776F7DE6E061}"/>
          </ac:picMkLst>
        </pc:picChg>
      </pc:sldChg>
      <pc:sldChg chg="addSp modSp modTransition modAnim">
        <pc:chgData name="Vamshikrishna Challa" userId="361d534d44d751e8" providerId="LiveId" clId="{82A044CC-8F19-4C9E-A221-AE6EAD844961}" dt="2026-06-26T15:22:53.797" v="1"/>
        <pc:sldMkLst>
          <pc:docMk/>
          <pc:sldMk cId="0" sldId="262"/>
        </pc:sldMkLst>
        <pc:picChg chg="add mod">
          <ac:chgData name="Vamshikrishna Challa" userId="361d534d44d751e8" providerId="LiveId" clId="{82A044CC-8F19-4C9E-A221-AE6EAD844961}" dt="2026-06-26T15:22:53.797" v="1"/>
          <ac:picMkLst>
            <pc:docMk/>
            <pc:sldMk cId="0" sldId="262"/>
            <ac:picMk id="14" creationId="{377AAB92-A0E2-31FC-CD26-94B9324C966E}"/>
          </ac:picMkLst>
        </pc:picChg>
      </pc:sldChg>
      <pc:sldChg chg="addSp modSp modTransition modAnim">
        <pc:chgData name="Vamshikrishna Challa" userId="361d534d44d751e8" providerId="LiveId" clId="{82A044CC-8F19-4C9E-A221-AE6EAD844961}" dt="2026-06-26T15:22:53.797" v="1"/>
        <pc:sldMkLst>
          <pc:docMk/>
          <pc:sldMk cId="0" sldId="263"/>
        </pc:sldMkLst>
        <pc:picChg chg="add mod">
          <ac:chgData name="Vamshikrishna Challa" userId="361d534d44d751e8" providerId="LiveId" clId="{82A044CC-8F19-4C9E-A221-AE6EAD844961}" dt="2026-06-26T15:22:53.797" v="1"/>
          <ac:picMkLst>
            <pc:docMk/>
            <pc:sldMk cId="0" sldId="263"/>
            <ac:picMk id="13" creationId="{9EF9B163-AF9E-7E9D-2398-3C5A19040162}"/>
          </ac:picMkLst>
        </pc:picChg>
      </pc:sldChg>
      <pc:sldChg chg="addSp modSp modTransition modAnim">
        <pc:chgData name="Vamshikrishna Challa" userId="361d534d44d751e8" providerId="LiveId" clId="{82A044CC-8F19-4C9E-A221-AE6EAD844961}" dt="2026-06-26T15:22:53.797" v="1"/>
        <pc:sldMkLst>
          <pc:docMk/>
          <pc:sldMk cId="0" sldId="264"/>
        </pc:sldMkLst>
        <pc:picChg chg="add mod">
          <ac:chgData name="Vamshikrishna Challa" userId="361d534d44d751e8" providerId="LiveId" clId="{82A044CC-8F19-4C9E-A221-AE6EAD844961}" dt="2026-06-26T15:22:53.797" v="1"/>
          <ac:picMkLst>
            <pc:docMk/>
            <pc:sldMk cId="0" sldId="264"/>
            <ac:picMk id="22" creationId="{44979493-1468-5C31-A5D8-0437D6ED06D1}"/>
          </ac:picMkLst>
        </pc:picChg>
      </pc:sldChg>
      <pc:sldChg chg="addSp modSp modTransition modAnim">
        <pc:chgData name="Vamshikrishna Challa" userId="361d534d44d751e8" providerId="LiveId" clId="{82A044CC-8F19-4C9E-A221-AE6EAD844961}" dt="2026-06-26T15:22:53.797" v="1"/>
        <pc:sldMkLst>
          <pc:docMk/>
          <pc:sldMk cId="3695617799" sldId="321"/>
        </pc:sldMkLst>
        <pc:picChg chg="add mod">
          <ac:chgData name="Vamshikrishna Challa" userId="361d534d44d751e8" providerId="LiveId" clId="{82A044CC-8F19-4C9E-A221-AE6EAD844961}" dt="2026-06-26T15:22:53.797" v="1"/>
          <ac:picMkLst>
            <pc:docMk/>
            <pc:sldMk cId="3695617799" sldId="321"/>
            <ac:picMk id="8" creationId="{786C63D5-5C0E-C33B-76C0-2BCC2AB2B288}"/>
          </ac:picMkLst>
        </pc:picChg>
      </pc:sldChg>
      <pc:sldChg chg="addSp modSp modTransition modAnim">
        <pc:chgData name="Vamshikrishna Challa" userId="361d534d44d751e8" providerId="LiveId" clId="{82A044CC-8F19-4C9E-A221-AE6EAD844961}" dt="2026-06-26T15:22:53.797" v="1"/>
        <pc:sldMkLst>
          <pc:docMk/>
          <pc:sldMk cId="0" sldId="364"/>
        </pc:sldMkLst>
        <pc:picChg chg="add mod">
          <ac:chgData name="Vamshikrishna Challa" userId="361d534d44d751e8" providerId="LiveId" clId="{82A044CC-8F19-4C9E-A221-AE6EAD844961}" dt="2026-06-26T15:22:53.797" v="1"/>
          <ac:picMkLst>
            <pc:docMk/>
            <pc:sldMk cId="0" sldId="364"/>
            <ac:picMk id="15" creationId="{418772AB-96E7-FFE4-CD42-707ABFEAB401}"/>
          </ac:picMkLst>
        </pc:picChg>
      </pc:sldChg>
      <pc:sldChg chg="addSp modSp modTransition modAnim">
        <pc:chgData name="Vamshikrishna Challa" userId="361d534d44d751e8" providerId="LiveId" clId="{82A044CC-8F19-4C9E-A221-AE6EAD844961}" dt="2026-06-26T15:22:53.797" v="1"/>
        <pc:sldMkLst>
          <pc:docMk/>
          <pc:sldMk cId="0" sldId="365"/>
        </pc:sldMkLst>
        <pc:picChg chg="add mod">
          <ac:chgData name="Vamshikrishna Challa" userId="361d534d44d751e8" providerId="LiveId" clId="{82A044CC-8F19-4C9E-A221-AE6EAD844961}" dt="2026-06-26T15:22:53.797" v="1"/>
          <ac:picMkLst>
            <pc:docMk/>
            <pc:sldMk cId="0" sldId="365"/>
            <ac:picMk id="19" creationId="{8CE38222-1773-338A-8467-A8359763C35E}"/>
          </ac:picMkLst>
        </pc:picChg>
      </pc:sldChg>
      <pc:sldChg chg="addSp modSp modTransition modAnim">
        <pc:chgData name="Vamshikrishna Challa" userId="361d534d44d751e8" providerId="LiveId" clId="{82A044CC-8F19-4C9E-A221-AE6EAD844961}" dt="2026-06-26T15:22:53.797" v="1"/>
        <pc:sldMkLst>
          <pc:docMk/>
          <pc:sldMk cId="3754154897" sldId="366"/>
        </pc:sldMkLst>
        <pc:picChg chg="add mod">
          <ac:chgData name="Vamshikrishna Challa" userId="361d534d44d751e8" providerId="LiveId" clId="{82A044CC-8F19-4C9E-A221-AE6EAD844961}" dt="2026-06-26T15:22:53.797" v="1"/>
          <ac:picMkLst>
            <pc:docMk/>
            <pc:sldMk cId="3754154897" sldId="366"/>
            <ac:picMk id="8" creationId="{9491023E-A10A-7814-D7E8-08CFB20FBD55}"/>
          </ac:picMkLst>
        </pc:picChg>
      </pc:sldChg>
      <pc:sldChg chg="addSp modSp modTransition modAnim">
        <pc:chgData name="Vamshikrishna Challa" userId="361d534d44d751e8" providerId="LiveId" clId="{82A044CC-8F19-4C9E-A221-AE6EAD844961}" dt="2026-06-26T15:22:53.797" v="1"/>
        <pc:sldMkLst>
          <pc:docMk/>
          <pc:sldMk cId="3246334813" sldId="367"/>
        </pc:sldMkLst>
        <pc:picChg chg="add mod">
          <ac:chgData name="Vamshikrishna Challa" userId="361d534d44d751e8" providerId="LiveId" clId="{82A044CC-8F19-4C9E-A221-AE6EAD844961}" dt="2026-06-26T15:22:53.797" v="1"/>
          <ac:picMkLst>
            <pc:docMk/>
            <pc:sldMk cId="3246334813" sldId="367"/>
            <ac:picMk id="6" creationId="{2BA0015B-7B4A-FBEA-C2C7-4DECC993484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01379A-EF37-704C-8538-D0F73F424F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venir Book" panose="02000503020000020003" pitchFamily="2" charset="0"/>
            </a:endParaRPr>
          </a:p>
        </p:txBody>
      </p:sp>
      <p:sp>
        <p:nvSpPr>
          <p:cNvPr id="4" name="Footer Placeholder 3">
            <a:extLst>
              <a:ext uri="{FF2B5EF4-FFF2-40B4-BE49-F238E27FC236}">
                <a16:creationId xmlns:a16="http://schemas.microsoft.com/office/drawing/2014/main" id="{2C2CBE97-3D0C-5045-9FE9-7F95CA6BE3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venir Book" panose="02000503020000020003" pitchFamily="2" charset="0"/>
            </a:endParaRPr>
          </a:p>
        </p:txBody>
      </p:sp>
      <p:sp>
        <p:nvSpPr>
          <p:cNvPr id="5" name="Slide Number Placeholder 4">
            <a:extLst>
              <a:ext uri="{FF2B5EF4-FFF2-40B4-BE49-F238E27FC236}">
                <a16:creationId xmlns:a16="http://schemas.microsoft.com/office/drawing/2014/main" id="{8BCE2166-158B-7043-BC3D-862E3961CD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20385E-9AEC-AE4B-9F29-034FFD6546A1}" type="slidenum">
              <a:rPr lang="en-US" smtClean="0">
                <a:latin typeface="Avenir Book" panose="02000503020000020003" pitchFamily="2" charset="0"/>
              </a:rPr>
              <a:t>‹#›</a:t>
            </a:fld>
            <a:endParaRPr lang="en-US" dirty="0">
              <a:latin typeface="Avenir Book" panose="02000503020000020003" pitchFamily="2" charset="0"/>
            </a:endParaRPr>
          </a:p>
        </p:txBody>
      </p:sp>
      <p:sp>
        <p:nvSpPr>
          <p:cNvPr id="6" name="Date Placeholder 5">
            <a:extLst>
              <a:ext uri="{FF2B5EF4-FFF2-40B4-BE49-F238E27FC236}">
                <a16:creationId xmlns:a16="http://schemas.microsoft.com/office/drawing/2014/main" id="{37B6664E-7B47-9F48-A0F4-96D7B082EC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EE0C87-C4B2-804D-A271-30F16C3C06F1}" type="datetimeFigureOut">
              <a:rPr lang="en-US" smtClean="0">
                <a:latin typeface="Avenir Book" panose="02000503020000020003" pitchFamily="2" charset="0"/>
              </a:rPr>
              <a:t>6/26/2026</a:t>
            </a:fld>
            <a:endParaRPr lang="en-US" dirty="0">
              <a:latin typeface="Avenir Book" panose="02000503020000020003" pitchFamily="2" charset="0"/>
            </a:endParaRPr>
          </a:p>
        </p:txBody>
      </p:sp>
    </p:spTree>
    <p:extLst>
      <p:ext uri="{BB962C8B-B14F-4D97-AF65-F5344CB8AC3E}">
        <p14:creationId xmlns:p14="http://schemas.microsoft.com/office/powerpoint/2010/main" val="30242547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venir Book" panose="02000503020000020003"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venir Book" panose="02000503020000020003" pitchFamily="2" charset="0"/>
              </a:defRPr>
            </a:lvl1pPr>
          </a:lstStyle>
          <a:p>
            <a:fld id="{59D088AB-38D9-574D-9FE4-C1ABD659377A}" type="datetimeFigureOut">
              <a:rPr lang="en-US" smtClean="0"/>
              <a:pPr/>
              <a:t>6/26/2026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venir Book" panose="02000503020000020003"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venir Book" panose="02000503020000020003" pitchFamily="2" charset="0"/>
              </a:defRPr>
            </a:lvl1pPr>
          </a:lstStyle>
          <a:p>
            <a:fld id="{9AC9CC7F-D7FD-7142-9894-9CD0A54CFBFA}" type="slidenum">
              <a:rPr lang="en-US" smtClean="0"/>
              <a:pPr/>
              <a:t>‹#›</a:t>
            </a:fld>
            <a:endParaRPr lang="en-US" dirty="0"/>
          </a:p>
        </p:txBody>
      </p:sp>
    </p:spTree>
    <p:extLst>
      <p:ext uri="{BB962C8B-B14F-4D97-AF65-F5344CB8AC3E}">
        <p14:creationId xmlns:p14="http://schemas.microsoft.com/office/powerpoint/2010/main" val="4292172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venir Book" panose="02000503020000020003" pitchFamily="2"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Vamshi Krishna Challa from Louisiana Tech University. Today I'll present my research on applying machine learning for clinical decision making, specifically using predictive analytics to support prior authorization and patient risk stratification. The goal is to improve healthcare efficiency while enabling earlier clinical interventions.</a:t>
            </a:r>
          </a:p>
        </p:txBody>
      </p:sp>
      <p:sp>
        <p:nvSpPr>
          <p:cNvPr id="4" name="Slide Number Placeholder 3"/>
          <p:cNvSpPr>
            <a:spLocks noGrp="1"/>
          </p:cNvSpPr>
          <p:nvPr>
            <p:ph type="sldNum" sz="quarter" idx="5"/>
          </p:nvPr>
        </p:nvSpPr>
        <p:spPr/>
        <p:txBody>
          <a:bodyPr/>
          <a:lstStyle/>
          <a:p>
            <a:fld id="{9AC9CC7F-D7FD-7142-9894-9CD0A54CFBFA}" type="slidenum">
              <a:rPr lang="en-US" smtClean="0"/>
              <a:pPr/>
              <a:t>1</a:t>
            </a:fld>
            <a:endParaRPr lang="en-US" dirty="0"/>
          </a:p>
        </p:txBody>
      </p:sp>
    </p:spTree>
    <p:extLst>
      <p:ext uri="{BB962C8B-B14F-4D97-AF65-F5344CB8AC3E}">
        <p14:creationId xmlns:p14="http://schemas.microsoft.com/office/powerpoint/2010/main" val="2299595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organizations face significant challenges due to preventable hospital readmissions, costing billions annually. Many organizations still rely on reactive audits instead of predictive analytics. My research addresses this gap by using machine learning to identify high-risk patients before discharge, allowing proactive clinical intervention and more informed prior authorization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The proposed methodology starts with a synthetic dataset of 1,000 patient records containing realistic clinical features such as age, diagnoses, medications, chronic conditions, and comorbidity scores. After preprocessing and feature selection, a Random Forest classifier predicts readmission risk and categorizes patients into low, moderate, or high-risk groups for clinical decision support."</a:t>
            </a:r>
            <a:r>
              <a:rPr lang="en-US" dirty="0"/>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the complete machine learning workflow. Patient data undergoes feature engineering before model training. The trained model generates risk scores, which are then integrated into clinical decision support systems. The output provides risk-stratified patient cohorts that can assist physicians and prior authorization teams in making timely healthcare decisions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selected the Random Forest algorithm because it is interpretable, robust to outliers, and performs well with mixed clinical data types. The dataset was divided into 80% training and 20% testing. The model achieved 89% accuracy with a ROC-AUC of 94.7%, demonstrating strong predictive performance for identifying high-risk patients."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which clinical variables contribute most to prediction. Age is the strongest predictor, followed by the number of medications, diagnoses, comorbidity score, and heart disease status. These findings are clinically meaningful and indicate that discharge planning should primarily focus on these objective EHR-based features."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prediction, the model supports several practical healthcare applications. It can enhance prior authorization workflows, detect claim anomalies in real time, and stratify patients into intervention groups. These applications improve operational efficiency while reducing unnecessary healthcare costs and improving patient outcomes.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compares two patients. The first patient is elderly with multiple diagnoses and medications, resulting in a very high predicted readmission risk that requires discharge planning and home healthcare. The second patient has minimal risk and only requires routine follow-up. This demonstrates how the model supports personalized clinical decision making.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"The implementation is divided into three phases. First, validate the model using real EHR data while conducting fairness and regulatory assessments. Second, integrate the model into prior authorization systems with real-time risk scoring. Finally, expand deployment to claims analytics and continuously monitor model performance as clinical practices evolve."</a:t>
            </a:r>
            <a:r>
              <a:rPr lang="en-US" dirty="0"/>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The results demonstrate the practical value of the proposed framework. High sensitivity ensures that very few high-risk patients are missed, while risk stratification enables targeted interventions that reduce unnecessary discharge planning costs. Since the model uses objective EHR features, it is explainable, maintainable, and suitable for deployment in healthcare organizations."</a:t>
            </a:r>
            <a:r>
              <a:rPr lang="en-US" dirty="0"/>
              <a:t> </a:t>
            </a:r>
          </a:p>
          <a:p>
            <a:endParaRPr lang="en-US" dirty="0"/>
          </a:p>
        </p:txBody>
      </p:sp>
      <p:sp>
        <p:nvSpPr>
          <p:cNvPr id="4" name="Slide Number Placeholder 3"/>
          <p:cNvSpPr>
            <a:spLocks noGrp="1"/>
          </p:cNvSpPr>
          <p:nvPr>
            <p:ph type="sldNum" sz="quarter" idx="5"/>
          </p:nvPr>
        </p:nvSpPr>
        <p:spPr/>
        <p:txBody>
          <a:bodyPr/>
          <a:lstStyle/>
          <a:p>
            <a:fld id="{9AC9CC7F-D7FD-7142-9894-9CD0A54CFBFA}" type="slidenum">
              <a:rPr lang="en-US" smtClean="0"/>
              <a:pPr/>
              <a:t>10</a:t>
            </a:fld>
            <a:endParaRPr lang="en-US" dirty="0"/>
          </a:p>
        </p:txBody>
      </p:sp>
    </p:spTree>
    <p:extLst>
      <p:ext uri="{BB962C8B-B14F-4D97-AF65-F5344CB8AC3E}">
        <p14:creationId xmlns:p14="http://schemas.microsoft.com/office/powerpoint/2010/main" val="1091148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This work demonstrates how interpretable machine learning can support clinical decision making, improve healthcare efficiency, and enhance patient outcomes. I would be happy to answer any questions</a:t>
            </a:r>
          </a:p>
        </p:txBody>
      </p:sp>
      <p:sp>
        <p:nvSpPr>
          <p:cNvPr id="4" name="Slide Number Placeholder 3"/>
          <p:cNvSpPr>
            <a:spLocks noGrp="1"/>
          </p:cNvSpPr>
          <p:nvPr>
            <p:ph type="sldNum" sz="quarter" idx="5"/>
          </p:nvPr>
        </p:nvSpPr>
        <p:spPr/>
        <p:txBody>
          <a:bodyPr/>
          <a:lstStyle/>
          <a:p>
            <a:fld id="{9AC9CC7F-D7FD-7142-9894-9CD0A54CFBFA}" type="slidenum">
              <a:rPr lang="en-US" smtClean="0"/>
              <a:pPr/>
              <a:t>11</a:t>
            </a:fld>
            <a:endParaRPr lang="en-US" dirty="0"/>
          </a:p>
        </p:txBody>
      </p:sp>
    </p:spTree>
    <p:extLst>
      <p:ext uri="{BB962C8B-B14F-4D97-AF65-F5344CB8AC3E}">
        <p14:creationId xmlns:p14="http://schemas.microsoft.com/office/powerpoint/2010/main" val="11163100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Slide with Block S (Whi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0948856-E190-184B-9834-A7007F191636}"/>
              </a:ext>
            </a:extLst>
          </p:cNvPr>
          <p:cNvPicPr>
            <a:picLocks noChangeAspect="1"/>
          </p:cNvPicPr>
          <p:nvPr userDrawn="1"/>
        </p:nvPicPr>
        <p:blipFill rotWithShape="1">
          <a:blip r:embed="rId2" cstate="screen">
            <a:alphaModFix amt="25000"/>
            <a:extLst>
              <a:ext uri="{28A0092B-C50C-407E-A947-70E740481C1C}">
                <a14:useLocalDpi xmlns:a14="http://schemas.microsoft.com/office/drawing/2010/main"/>
              </a:ext>
            </a:extLst>
          </a:blip>
          <a:srcRect l="15904"/>
          <a:stretch/>
        </p:blipFill>
        <p:spPr>
          <a:xfrm>
            <a:off x="0" y="476621"/>
            <a:ext cx="4481189" cy="5904757"/>
          </a:xfrm>
          <a:prstGeom prst="rect">
            <a:avLst/>
          </a:prstGeom>
        </p:spPr>
      </p:pic>
      <p:sp>
        <p:nvSpPr>
          <p:cNvPr id="7" name="Title 1">
            <a:extLst>
              <a:ext uri="{FF2B5EF4-FFF2-40B4-BE49-F238E27FC236}">
                <a16:creationId xmlns:a16="http://schemas.microsoft.com/office/drawing/2014/main" id="{404E0D75-E2A3-A141-B226-AB15B52113CF}"/>
              </a:ext>
            </a:extLst>
          </p:cNvPr>
          <p:cNvSpPr>
            <a:spLocks noGrp="1"/>
          </p:cNvSpPr>
          <p:nvPr>
            <p:ph type="ctrTitle"/>
          </p:nvPr>
        </p:nvSpPr>
        <p:spPr>
          <a:xfrm>
            <a:off x="4064127" y="2294951"/>
            <a:ext cx="6028095" cy="1039761"/>
          </a:xfrm>
          <a:prstGeom prst="rect">
            <a:avLst/>
          </a:prstGeom>
        </p:spPr>
        <p:txBody>
          <a:bodyPr wrap="square" tIns="0" bIns="0" anchor="t" anchorCtr="0">
            <a:normAutofit/>
          </a:bodyPr>
          <a:lstStyle>
            <a:lvl1pPr algn="l">
              <a:defRPr sz="4000" b="1" i="0" cap="all" baseline="0">
                <a:solidFill>
                  <a:srgbClr val="003087"/>
                </a:solidFill>
                <a:latin typeface="Avenir Black" panose="02000503020000020003" pitchFamily="2" charset="0"/>
              </a:defRPr>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3DA249BD-58B1-8141-B821-C274EBE3499D}"/>
              </a:ext>
            </a:extLst>
          </p:cNvPr>
          <p:cNvSpPr>
            <a:spLocks noGrp="1"/>
          </p:cNvSpPr>
          <p:nvPr>
            <p:ph type="subTitle" idx="1"/>
          </p:nvPr>
        </p:nvSpPr>
        <p:spPr>
          <a:xfrm>
            <a:off x="4154080" y="3561607"/>
            <a:ext cx="6028095" cy="919346"/>
          </a:xfrm>
          <a:prstGeom prst="rect">
            <a:avLst/>
          </a:prstGeom>
        </p:spPr>
        <p:txBody>
          <a:bodyPr>
            <a:normAutofit/>
          </a:bodyPr>
          <a:lstStyle>
            <a:lvl1pPr marL="0" indent="0" algn="l">
              <a:buNone/>
              <a:defRPr sz="2800" baseline="0">
                <a:solidFill>
                  <a:srgbClr val="003087"/>
                </a:solidFill>
                <a:latin typeface="Avenir" panose="02000503020000020003"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1" name="Picture 10">
            <a:extLst>
              <a:ext uri="{FF2B5EF4-FFF2-40B4-BE49-F238E27FC236}">
                <a16:creationId xmlns:a16="http://schemas.microsoft.com/office/drawing/2014/main" id="{EC5244E6-5833-DA4C-AD6B-FF93CE8CC6E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54080" y="4929923"/>
            <a:ext cx="3027305" cy="713987"/>
          </a:xfrm>
          <a:prstGeom prst="rect">
            <a:avLst/>
          </a:prstGeom>
        </p:spPr>
      </p:pic>
    </p:spTree>
    <p:extLst>
      <p:ext uri="{BB962C8B-B14F-4D97-AF65-F5344CB8AC3E}">
        <p14:creationId xmlns:p14="http://schemas.microsoft.com/office/powerpoint/2010/main" val="2631408076"/>
      </p:ext>
    </p:extLst>
  </p:cSld>
  <p:clrMapOvr>
    <a:masterClrMapping/>
  </p:clrMapOvr>
  <p:extLst>
    <p:ext uri="{DCECCB84-F9BA-43D5-87BE-67443E8EF086}">
      <p15:sldGuideLst xmlns:p15="http://schemas.microsoft.com/office/powerpoint/2012/main">
        <p15:guide id="1" orient="horz" pos="1440" userDrawn="1">
          <p15:clr>
            <a:srgbClr val="FBAE40"/>
          </p15:clr>
        </p15:guide>
        <p15:guide id="2" pos="2376" userDrawn="1">
          <p15:clr>
            <a:srgbClr val="FBAE40"/>
          </p15:clr>
        </p15:guide>
        <p15:guide id="3" orient="horz" pos="2880" userDrawn="1">
          <p15:clr>
            <a:srgbClr val="FBAE40"/>
          </p15:clr>
        </p15:guide>
        <p15:guide id="4"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Block S (Nav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03B6FB-6D61-B246-BC4A-8F486F978869}"/>
              </a:ext>
            </a:extLst>
          </p:cNvPr>
          <p:cNvSpPr>
            <a:spLocks noGrp="1"/>
          </p:cNvSpPr>
          <p:nvPr>
            <p:ph type="ctrTitle"/>
          </p:nvPr>
        </p:nvSpPr>
        <p:spPr>
          <a:xfrm>
            <a:off x="519647" y="3227285"/>
            <a:ext cx="6028095" cy="1039761"/>
          </a:xfrm>
          <a:prstGeom prst="rect">
            <a:avLst/>
          </a:prstGeom>
        </p:spPr>
        <p:txBody>
          <a:bodyPr wrap="square" tIns="0" bIns="0" anchor="t" anchorCtr="0">
            <a:normAutofit/>
          </a:bodyPr>
          <a:lstStyle>
            <a:lvl1pPr algn="l">
              <a:defRPr sz="4000" b="1" i="0" cap="all" baseline="0">
                <a:solidFill>
                  <a:srgbClr val="003087"/>
                </a:solidFill>
                <a:latin typeface="Avenir Black" panose="02000503020000020003" pitchFamily="2" charset="0"/>
              </a:defRPr>
            </a:lvl1pPr>
          </a:lstStyle>
          <a:p>
            <a:r>
              <a:rPr lang="en-US"/>
              <a:t>Click to edit Master title style</a:t>
            </a:r>
            <a:endParaRPr lang="en-US" dirty="0"/>
          </a:p>
        </p:txBody>
      </p:sp>
      <p:sp>
        <p:nvSpPr>
          <p:cNvPr id="9" name="Subtitle 2">
            <a:extLst>
              <a:ext uri="{FF2B5EF4-FFF2-40B4-BE49-F238E27FC236}">
                <a16:creationId xmlns:a16="http://schemas.microsoft.com/office/drawing/2014/main" id="{581D3A3B-F153-1340-BB55-47120271121E}"/>
              </a:ext>
            </a:extLst>
          </p:cNvPr>
          <p:cNvSpPr>
            <a:spLocks noGrp="1"/>
          </p:cNvSpPr>
          <p:nvPr>
            <p:ph type="subTitle" idx="1"/>
          </p:nvPr>
        </p:nvSpPr>
        <p:spPr>
          <a:xfrm>
            <a:off x="609600" y="4493941"/>
            <a:ext cx="6028095" cy="919346"/>
          </a:xfrm>
          <a:prstGeom prst="rect">
            <a:avLst/>
          </a:prstGeom>
        </p:spPr>
        <p:txBody>
          <a:bodyPr>
            <a:normAutofit/>
          </a:bodyPr>
          <a:lstStyle>
            <a:lvl1pPr marL="0" indent="0" algn="l">
              <a:buNone/>
              <a:defRPr sz="2800" baseline="0">
                <a:solidFill>
                  <a:srgbClr val="003087"/>
                </a:solidFill>
                <a:latin typeface="Avenir" panose="02000503020000020003"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2" name="Picture 11">
            <a:extLst>
              <a:ext uri="{FF2B5EF4-FFF2-40B4-BE49-F238E27FC236}">
                <a16:creationId xmlns:a16="http://schemas.microsoft.com/office/drawing/2014/main" id="{F5685ADA-AEDC-6045-8A57-C05E0322098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12648" y="429768"/>
            <a:ext cx="3715065" cy="876194"/>
          </a:xfrm>
          <a:prstGeom prst="rect">
            <a:avLst/>
          </a:prstGeom>
        </p:spPr>
      </p:pic>
      <p:pic>
        <p:nvPicPr>
          <p:cNvPr id="13" name="Picture 12">
            <a:extLst>
              <a:ext uri="{FF2B5EF4-FFF2-40B4-BE49-F238E27FC236}">
                <a16:creationId xmlns:a16="http://schemas.microsoft.com/office/drawing/2014/main" id="{2154E077-16A4-A24F-A8AA-A7B415B8100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 r="20681" b="8148"/>
          <a:stretch/>
        </p:blipFill>
        <p:spPr>
          <a:xfrm>
            <a:off x="7076873" y="1539146"/>
            <a:ext cx="5115127" cy="5318854"/>
          </a:xfrm>
          <a:prstGeom prst="rect">
            <a:avLst/>
          </a:prstGeom>
        </p:spPr>
      </p:pic>
    </p:spTree>
    <p:extLst>
      <p:ext uri="{BB962C8B-B14F-4D97-AF65-F5344CB8AC3E}">
        <p14:creationId xmlns:p14="http://schemas.microsoft.com/office/powerpoint/2010/main" val="23013944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ith Photo (Orang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369042D0-5033-4541-ADD4-1239414CD9A6}"/>
              </a:ext>
            </a:extLst>
          </p:cNvPr>
          <p:cNvSpPr>
            <a:spLocks noGrp="1"/>
          </p:cNvSpPr>
          <p:nvPr>
            <p:ph type="pic" sz="quarter" idx="10"/>
          </p:nvPr>
        </p:nvSpPr>
        <p:spPr>
          <a:xfrm>
            <a:off x="7382576" y="0"/>
            <a:ext cx="4809423" cy="6858000"/>
          </a:xfrm>
          <a:solidFill>
            <a:schemeClr val="bg1"/>
          </a:solidFill>
        </p:spPr>
        <p:txBody>
          <a:bodyPr/>
          <a:lstStyle>
            <a:lvl1pPr marL="0" indent="0">
              <a:buNone/>
              <a:defRPr b="0" i="0"/>
            </a:lvl1pPr>
          </a:lstStyle>
          <a:p>
            <a:r>
              <a:rPr lang="en-US"/>
              <a:t>Click icon to add picture</a:t>
            </a:r>
            <a:endParaRPr lang="en-US" dirty="0"/>
          </a:p>
        </p:txBody>
      </p:sp>
      <p:pic>
        <p:nvPicPr>
          <p:cNvPr id="8" name="Picture 7">
            <a:extLst>
              <a:ext uri="{FF2B5EF4-FFF2-40B4-BE49-F238E27FC236}">
                <a16:creationId xmlns:a16="http://schemas.microsoft.com/office/drawing/2014/main" id="{AC60DD82-7D08-4341-9F2F-63E270194A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57200" y="432458"/>
            <a:ext cx="3669716" cy="821317"/>
          </a:xfrm>
          <a:prstGeom prst="rect">
            <a:avLst/>
          </a:prstGeom>
        </p:spPr>
      </p:pic>
      <p:sp>
        <p:nvSpPr>
          <p:cNvPr id="9" name="Title 1">
            <a:extLst>
              <a:ext uri="{FF2B5EF4-FFF2-40B4-BE49-F238E27FC236}">
                <a16:creationId xmlns:a16="http://schemas.microsoft.com/office/drawing/2014/main" id="{5CCD451E-3EA3-664B-9CC7-0DF19F8203D9}"/>
              </a:ext>
            </a:extLst>
          </p:cNvPr>
          <p:cNvSpPr>
            <a:spLocks noGrp="1"/>
          </p:cNvSpPr>
          <p:nvPr>
            <p:ph type="ctrTitle" hasCustomPrompt="1"/>
          </p:nvPr>
        </p:nvSpPr>
        <p:spPr>
          <a:xfrm>
            <a:off x="457200" y="2732049"/>
            <a:ext cx="4125951" cy="1534997"/>
          </a:xfrm>
          <a:prstGeom prst="rect">
            <a:avLst/>
          </a:prstGeom>
        </p:spPr>
        <p:txBody>
          <a:bodyPr wrap="square" tIns="0" bIns="0" anchor="t" anchorCtr="0">
            <a:normAutofit/>
          </a:bodyPr>
          <a:lstStyle>
            <a:lvl1pPr algn="l">
              <a:defRPr sz="4000" b="1" i="0" cap="all" baseline="0">
                <a:solidFill>
                  <a:srgbClr val="003087"/>
                </a:solidFill>
                <a:latin typeface="Avenir Black" panose="02000503020000020003" pitchFamily="2" charset="0"/>
              </a:defRPr>
            </a:lvl1pPr>
          </a:lstStyle>
          <a:p>
            <a:r>
              <a:rPr lang="en-US" dirty="0"/>
              <a:t>Click to edit copy</a:t>
            </a:r>
          </a:p>
        </p:txBody>
      </p:sp>
      <p:sp>
        <p:nvSpPr>
          <p:cNvPr id="10" name="Subtitle 2">
            <a:extLst>
              <a:ext uri="{FF2B5EF4-FFF2-40B4-BE49-F238E27FC236}">
                <a16:creationId xmlns:a16="http://schemas.microsoft.com/office/drawing/2014/main" id="{943E6B3A-B824-CA4E-88FF-7DF6A608F033}"/>
              </a:ext>
            </a:extLst>
          </p:cNvPr>
          <p:cNvSpPr>
            <a:spLocks noGrp="1"/>
          </p:cNvSpPr>
          <p:nvPr>
            <p:ph type="subTitle" idx="1"/>
          </p:nvPr>
        </p:nvSpPr>
        <p:spPr>
          <a:xfrm>
            <a:off x="547154" y="4493941"/>
            <a:ext cx="4035998" cy="919346"/>
          </a:xfrm>
          <a:prstGeom prst="rect">
            <a:avLst/>
          </a:prstGeom>
        </p:spPr>
        <p:txBody>
          <a:bodyPr>
            <a:normAutofit/>
          </a:bodyPr>
          <a:lstStyle>
            <a:lvl1pPr marL="0" indent="0" algn="l">
              <a:buNone/>
              <a:defRPr sz="2800" baseline="0">
                <a:solidFill>
                  <a:srgbClr val="003087"/>
                </a:solidFill>
                <a:latin typeface="Avenir" panose="02000503020000020003"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401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with Photo (Orang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369042D0-5033-4541-ADD4-1239414CD9A6}"/>
              </a:ext>
            </a:extLst>
          </p:cNvPr>
          <p:cNvSpPr>
            <a:spLocks noGrp="1"/>
          </p:cNvSpPr>
          <p:nvPr>
            <p:ph type="pic" sz="quarter" idx="10"/>
          </p:nvPr>
        </p:nvSpPr>
        <p:spPr>
          <a:xfrm>
            <a:off x="0" y="0"/>
            <a:ext cx="12192000" cy="4013735"/>
          </a:xfrm>
          <a:solidFill>
            <a:schemeClr val="bg1"/>
          </a:solidFill>
        </p:spPr>
        <p:txBody>
          <a:bodyPr/>
          <a:lstStyle>
            <a:lvl1pPr marL="0" indent="0">
              <a:buNone/>
              <a:defRPr b="0" i="0"/>
            </a:lvl1pPr>
          </a:lstStyle>
          <a:p>
            <a:r>
              <a:rPr lang="en-US"/>
              <a:t>Click icon to add picture</a:t>
            </a:r>
            <a:endParaRPr lang="en-US" dirty="0"/>
          </a:p>
        </p:txBody>
      </p:sp>
      <p:sp>
        <p:nvSpPr>
          <p:cNvPr id="10" name="Subtitle 2">
            <a:extLst>
              <a:ext uri="{FF2B5EF4-FFF2-40B4-BE49-F238E27FC236}">
                <a16:creationId xmlns:a16="http://schemas.microsoft.com/office/drawing/2014/main" id="{943E6B3A-B824-CA4E-88FF-7DF6A608F033}"/>
              </a:ext>
            </a:extLst>
          </p:cNvPr>
          <p:cNvSpPr>
            <a:spLocks noGrp="1"/>
          </p:cNvSpPr>
          <p:nvPr>
            <p:ph type="subTitle" idx="1"/>
          </p:nvPr>
        </p:nvSpPr>
        <p:spPr>
          <a:xfrm>
            <a:off x="402187" y="5510264"/>
            <a:ext cx="4035998" cy="770554"/>
          </a:xfrm>
          <a:prstGeom prst="rect">
            <a:avLst/>
          </a:prstGeom>
        </p:spPr>
        <p:txBody>
          <a:bodyPr>
            <a:normAutofit/>
          </a:bodyPr>
          <a:lstStyle>
            <a:lvl1pPr marL="0" indent="0" algn="l">
              <a:buNone/>
              <a:defRPr sz="1600" baseline="0">
                <a:solidFill>
                  <a:srgbClr val="003087"/>
                </a:solidFill>
                <a:latin typeface="Avenir" panose="02000503020000020003"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Title 1">
            <a:extLst>
              <a:ext uri="{FF2B5EF4-FFF2-40B4-BE49-F238E27FC236}">
                <a16:creationId xmlns:a16="http://schemas.microsoft.com/office/drawing/2014/main" id="{5CCD451E-3EA3-664B-9CC7-0DF19F8203D9}"/>
              </a:ext>
            </a:extLst>
          </p:cNvPr>
          <p:cNvSpPr>
            <a:spLocks noGrp="1"/>
          </p:cNvSpPr>
          <p:nvPr>
            <p:ph type="ctrTitle" hasCustomPrompt="1"/>
          </p:nvPr>
        </p:nvSpPr>
        <p:spPr>
          <a:xfrm>
            <a:off x="357210" y="4590918"/>
            <a:ext cx="4125951" cy="770553"/>
          </a:xfrm>
          <a:prstGeom prst="rect">
            <a:avLst/>
          </a:prstGeom>
        </p:spPr>
        <p:txBody>
          <a:bodyPr wrap="square" tIns="0" bIns="0" anchor="t" anchorCtr="0">
            <a:normAutofit/>
          </a:bodyPr>
          <a:lstStyle>
            <a:lvl1pPr algn="l">
              <a:defRPr sz="2800" b="0" i="0" cap="all" baseline="0">
                <a:solidFill>
                  <a:srgbClr val="003087"/>
                </a:solidFill>
                <a:latin typeface="Avenir" panose="02000503020000020003" pitchFamily="2" charset="0"/>
              </a:defRPr>
            </a:lvl1pPr>
          </a:lstStyle>
          <a:p>
            <a:r>
              <a:rPr lang="en-US" dirty="0"/>
              <a:t>Click to edit copy</a:t>
            </a:r>
          </a:p>
        </p:txBody>
      </p:sp>
    </p:spTree>
    <p:extLst>
      <p:ext uri="{BB962C8B-B14F-4D97-AF65-F5344CB8AC3E}">
        <p14:creationId xmlns:p14="http://schemas.microsoft.com/office/powerpoint/2010/main" val="2182785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7A350-A569-4D4A-A8C5-9F53139FA321}"/>
              </a:ext>
            </a:extLst>
          </p:cNvPr>
          <p:cNvSpPr>
            <a:spLocks noGrp="1"/>
          </p:cNvSpPr>
          <p:nvPr>
            <p:ph type="title"/>
          </p:nvPr>
        </p:nvSpPr>
        <p:spPr>
          <a:xfrm>
            <a:off x="838200" y="365125"/>
            <a:ext cx="10515600" cy="1325563"/>
          </a:xfrm>
          <a:prstGeom prst="rect">
            <a:avLst/>
          </a:prstGeom>
        </p:spPr>
        <p:txBody>
          <a:bodyPr>
            <a:normAutofit/>
          </a:bodyPr>
          <a:lstStyle>
            <a:lvl1pPr>
              <a:defRPr sz="3600" b="0" i="0">
                <a:solidFill>
                  <a:srgbClr val="003087"/>
                </a:solidFill>
              </a:defRPr>
            </a:lvl1pPr>
          </a:lstStyle>
          <a:p>
            <a:r>
              <a:rPr lang="en-US"/>
              <a:t>Click to edit Master title style</a:t>
            </a:r>
            <a:endParaRPr lang="en-US" dirty="0"/>
          </a:p>
        </p:txBody>
      </p:sp>
      <p:sp>
        <p:nvSpPr>
          <p:cNvPr id="5" name="Content Placeholder 2">
            <a:extLst>
              <a:ext uri="{FF2B5EF4-FFF2-40B4-BE49-F238E27FC236}">
                <a16:creationId xmlns:a16="http://schemas.microsoft.com/office/drawing/2014/main" id="{904DD360-C2B2-1A49-B668-FE02618F2B7F}"/>
              </a:ext>
            </a:extLst>
          </p:cNvPr>
          <p:cNvSpPr>
            <a:spLocks noGrp="1"/>
          </p:cNvSpPr>
          <p:nvPr>
            <p:ph idx="1"/>
          </p:nvPr>
        </p:nvSpPr>
        <p:spPr>
          <a:xfrm>
            <a:off x="838200" y="1825625"/>
            <a:ext cx="10515600" cy="4351338"/>
          </a:xfrm>
        </p:spPr>
        <p:txBody>
          <a:bodyPr/>
          <a:lstStyle>
            <a:lvl1pPr marL="0" indent="0">
              <a:buNone/>
              <a:defRPr sz="3200" b="0" i="0">
                <a:solidFill>
                  <a:srgbClr val="003087"/>
                </a:solidFill>
              </a:defRPr>
            </a:lvl1pPr>
            <a:lvl2pPr marL="9525" indent="0">
              <a:buNone/>
              <a:tabLst/>
              <a:defRPr sz="2800" b="0" i="0">
                <a:solidFill>
                  <a:srgbClr val="003087"/>
                </a:solidFill>
              </a:defRPr>
            </a:lvl2pPr>
            <a:lvl3pPr marL="9525" indent="0">
              <a:buNone/>
              <a:tabLst/>
              <a:defRPr sz="2800" b="0" i="0">
                <a:solidFill>
                  <a:srgbClr val="003087"/>
                </a:solidFill>
              </a:defRPr>
            </a:lvl3pPr>
            <a:lvl4pPr marL="9525" indent="0">
              <a:buNone/>
              <a:tabLst/>
              <a:defRPr sz="2400" b="0" i="0">
                <a:solidFill>
                  <a:srgbClr val="003087"/>
                </a:solidFill>
              </a:defRPr>
            </a:lvl4pPr>
            <a:lvl5pPr marL="9525" indent="0">
              <a:buNone/>
              <a:tabLst/>
              <a:defRPr sz="2400" b="0" i="0">
                <a:solidFill>
                  <a:srgbClr val="00308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44781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9FBE8-57B1-984B-85C1-A3E9EEE3DDAE}"/>
              </a:ext>
            </a:extLst>
          </p:cNvPr>
          <p:cNvSpPr>
            <a:spLocks noGrp="1"/>
          </p:cNvSpPr>
          <p:nvPr>
            <p:ph type="title"/>
          </p:nvPr>
        </p:nvSpPr>
        <p:spPr>
          <a:xfrm>
            <a:off x="838200" y="365125"/>
            <a:ext cx="10515600" cy="1325563"/>
          </a:xfrm>
          <a:prstGeom prst="rect">
            <a:avLst/>
          </a:prstGeom>
        </p:spPr>
        <p:txBody>
          <a:bodyPr/>
          <a:lstStyle>
            <a:lvl1pPr>
              <a:defRPr b="0" i="0"/>
            </a:lvl1pPr>
          </a:lstStyle>
          <a:p>
            <a:r>
              <a:rPr lang="en-US"/>
              <a:t>Click to edit Master title style</a:t>
            </a:r>
            <a:endParaRPr lang="en-US" dirty="0"/>
          </a:p>
        </p:txBody>
      </p:sp>
      <p:sp>
        <p:nvSpPr>
          <p:cNvPr id="5" name="Content Placeholder 2">
            <a:extLst>
              <a:ext uri="{FF2B5EF4-FFF2-40B4-BE49-F238E27FC236}">
                <a16:creationId xmlns:a16="http://schemas.microsoft.com/office/drawing/2014/main" id="{E5067853-CEB1-FC44-B005-DDF70C5D1070}"/>
              </a:ext>
            </a:extLst>
          </p:cNvPr>
          <p:cNvSpPr>
            <a:spLocks noGrp="1"/>
          </p:cNvSpPr>
          <p:nvPr>
            <p:ph idx="1"/>
          </p:nvPr>
        </p:nvSpPr>
        <p:spPr>
          <a:xfrm>
            <a:off x="838200" y="1825625"/>
            <a:ext cx="10515600" cy="4351338"/>
          </a:xfrm>
          <a:prstGeom prst="rect">
            <a:avLst/>
          </a:prstGeom>
        </p:spPr>
        <p:txBody>
          <a:bodyPr/>
          <a:lstStyle>
            <a:lvl1pPr>
              <a:defRPr sz="3200" b="0" i="0"/>
            </a:lvl1pPr>
            <a:lvl2pPr>
              <a:defRPr sz="2800" b="0" i="0"/>
            </a:lvl2pPr>
            <a:lvl3pPr>
              <a:defRPr sz="2800" b="0" i="0"/>
            </a:lvl3pPr>
            <a:lvl4pPr>
              <a:defRPr sz="2400" b="0" i="0"/>
            </a:lvl4pPr>
            <a:lvl5pPr>
              <a:defRPr sz="2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0712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F407E-022E-794A-A444-D97BCE8B55BA}"/>
              </a:ext>
            </a:extLst>
          </p:cNvPr>
          <p:cNvSpPr>
            <a:spLocks noGrp="1"/>
          </p:cNvSpPr>
          <p:nvPr>
            <p:ph type="title"/>
          </p:nvPr>
        </p:nvSpPr>
        <p:spPr>
          <a:xfrm>
            <a:off x="838200" y="365125"/>
            <a:ext cx="10515600" cy="1325563"/>
          </a:xfrm>
          <a:prstGeom prst="rect">
            <a:avLst/>
          </a:prstGeom>
        </p:spPr>
        <p:txBody>
          <a:bodyPr/>
          <a:lstStyle>
            <a:lvl1pPr>
              <a:defRPr b="0" i="0"/>
            </a:lvl1pPr>
          </a:lstStyle>
          <a:p>
            <a:r>
              <a:rPr lang="en-US"/>
              <a:t>Click to edit Master title style</a:t>
            </a:r>
            <a:endParaRPr lang="en-US" dirty="0"/>
          </a:p>
        </p:txBody>
      </p:sp>
      <p:sp>
        <p:nvSpPr>
          <p:cNvPr id="7" name="Content Placeholder 2">
            <a:extLst>
              <a:ext uri="{FF2B5EF4-FFF2-40B4-BE49-F238E27FC236}">
                <a16:creationId xmlns:a16="http://schemas.microsoft.com/office/drawing/2014/main" id="{E5029A84-5503-7243-AB5C-33942C7CB20D}"/>
              </a:ext>
            </a:extLst>
          </p:cNvPr>
          <p:cNvSpPr>
            <a:spLocks noGrp="1"/>
          </p:cNvSpPr>
          <p:nvPr>
            <p:ph sz="half" idx="1"/>
          </p:nvPr>
        </p:nvSpPr>
        <p:spPr>
          <a:xfrm>
            <a:off x="838200" y="1825625"/>
            <a:ext cx="5181600" cy="4351338"/>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3">
            <a:extLst>
              <a:ext uri="{FF2B5EF4-FFF2-40B4-BE49-F238E27FC236}">
                <a16:creationId xmlns:a16="http://schemas.microsoft.com/office/drawing/2014/main" id="{8D58A4AA-3BBA-CD47-9E72-79747053069C}"/>
              </a:ext>
            </a:extLst>
          </p:cNvPr>
          <p:cNvSpPr>
            <a:spLocks noGrp="1"/>
          </p:cNvSpPr>
          <p:nvPr>
            <p:ph sz="half" idx="2"/>
          </p:nvPr>
        </p:nvSpPr>
        <p:spPr>
          <a:xfrm>
            <a:off x="6172200" y="1825625"/>
            <a:ext cx="5181600" cy="4351338"/>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4612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D03F8-3E42-A544-82DD-AA6A2FE1F2B7}"/>
              </a:ext>
            </a:extLst>
          </p:cNvPr>
          <p:cNvSpPr>
            <a:spLocks noGrp="1"/>
          </p:cNvSpPr>
          <p:nvPr>
            <p:ph type="title"/>
          </p:nvPr>
        </p:nvSpPr>
        <p:spPr>
          <a:xfrm>
            <a:off x="838200" y="365125"/>
            <a:ext cx="10515600" cy="1325563"/>
          </a:xfrm>
          <a:prstGeom prst="rect">
            <a:avLst/>
          </a:prstGeom>
        </p:spPr>
        <p:txBody>
          <a:bodyPr/>
          <a:lstStyle>
            <a:lvl1pPr>
              <a:defRPr b="0" i="0"/>
            </a:lvl1pPr>
          </a:lstStyle>
          <a:p>
            <a:r>
              <a:rPr lang="en-US"/>
              <a:t>Click to edit Master title style</a:t>
            </a:r>
            <a:endParaRPr lang="en-US" dirty="0"/>
          </a:p>
        </p:txBody>
      </p:sp>
      <p:sp>
        <p:nvSpPr>
          <p:cNvPr id="8" name="Text Placeholder 2">
            <a:extLst>
              <a:ext uri="{FF2B5EF4-FFF2-40B4-BE49-F238E27FC236}">
                <a16:creationId xmlns:a16="http://schemas.microsoft.com/office/drawing/2014/main" id="{292CCD6E-072F-2642-AB45-71658C90933B}"/>
              </a:ext>
            </a:extLst>
          </p:cNvPr>
          <p:cNvSpPr>
            <a:spLocks noGrp="1"/>
          </p:cNvSpPr>
          <p:nvPr>
            <p:ph type="body" idx="1"/>
          </p:nvPr>
        </p:nvSpPr>
        <p:spPr>
          <a:xfrm>
            <a:off x="839788" y="1825625"/>
            <a:ext cx="5157787" cy="731520"/>
          </a:xfrm>
          <a:prstGeom prst="rect">
            <a:avLst/>
          </a:prstGeom>
        </p:spPr>
        <p:txBody>
          <a:bodyPr anchor="b">
            <a:normAutofit/>
          </a:bodyPr>
          <a:lstStyle>
            <a:lvl1pPr marL="0" indent="0">
              <a:buNone/>
              <a:defRPr sz="2800" b="0" i="0">
                <a:solidFill>
                  <a:srgbClr val="003087"/>
                </a:solidFill>
                <a:latin typeface="Avenir Book" panose="02000503020000020003" pitchFamily="2" charset="0"/>
                <a:ea typeface="Avenir Book" panose="02000503020000020003" pitchFamily="2" charset="0"/>
                <a:cs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3">
            <a:extLst>
              <a:ext uri="{FF2B5EF4-FFF2-40B4-BE49-F238E27FC236}">
                <a16:creationId xmlns:a16="http://schemas.microsoft.com/office/drawing/2014/main" id="{FCF624C1-8860-7343-A9C7-D4AE6D946B8C}"/>
              </a:ext>
            </a:extLst>
          </p:cNvPr>
          <p:cNvSpPr>
            <a:spLocks noGrp="1"/>
          </p:cNvSpPr>
          <p:nvPr>
            <p:ph sz="half" idx="2"/>
          </p:nvPr>
        </p:nvSpPr>
        <p:spPr>
          <a:xfrm>
            <a:off x="839788" y="2651761"/>
            <a:ext cx="5157787" cy="3525202"/>
          </a:xfrm>
          <a:prstGeom prst="rect">
            <a:avLst/>
          </a:prstGeom>
        </p:spPr>
        <p:txBody>
          <a:bodyPr>
            <a:normAutofit/>
          </a:bodyPr>
          <a:lstStyle>
            <a:lvl1pPr>
              <a:defRPr sz="2800" b="0" i="0"/>
            </a:lvl1pPr>
            <a:lvl2pPr>
              <a:defRPr sz="2400" b="0" i="0"/>
            </a:lvl2pPr>
            <a:lvl3pPr>
              <a:defRPr sz="2400" b="0" i="0"/>
            </a:lvl3pPr>
            <a:lvl4pPr>
              <a:defRPr sz="2000" b="0" i="0"/>
            </a:lvl4pPr>
            <a:lvl5pPr>
              <a:defRPr sz="20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a:extLst>
              <a:ext uri="{FF2B5EF4-FFF2-40B4-BE49-F238E27FC236}">
                <a16:creationId xmlns:a16="http://schemas.microsoft.com/office/drawing/2014/main" id="{6F7A2362-C790-E647-BCBF-A98393C550A5}"/>
              </a:ext>
            </a:extLst>
          </p:cNvPr>
          <p:cNvSpPr>
            <a:spLocks noGrp="1"/>
          </p:cNvSpPr>
          <p:nvPr>
            <p:ph type="body" sz="quarter" idx="3"/>
          </p:nvPr>
        </p:nvSpPr>
        <p:spPr>
          <a:xfrm>
            <a:off x="6172200" y="1825625"/>
            <a:ext cx="5183188" cy="731520"/>
          </a:xfrm>
          <a:prstGeom prst="rect">
            <a:avLst/>
          </a:prstGeom>
        </p:spPr>
        <p:txBody>
          <a:bodyPr anchor="b">
            <a:normAutofit/>
          </a:bodyPr>
          <a:lstStyle>
            <a:lvl1pPr marL="0" indent="0">
              <a:buNone/>
              <a:defRPr sz="2800" b="0" i="0">
                <a:solidFill>
                  <a:srgbClr val="003087"/>
                </a:solidFill>
                <a:latin typeface="Avenir Book" panose="02000503020000020003" pitchFamily="2" charset="0"/>
                <a:ea typeface="Avenir Book" panose="02000503020000020003" pitchFamily="2" charset="0"/>
                <a:cs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5">
            <a:extLst>
              <a:ext uri="{FF2B5EF4-FFF2-40B4-BE49-F238E27FC236}">
                <a16:creationId xmlns:a16="http://schemas.microsoft.com/office/drawing/2014/main" id="{03FD1DC2-B954-A943-AD79-573CC1E41B48}"/>
              </a:ext>
            </a:extLst>
          </p:cNvPr>
          <p:cNvSpPr>
            <a:spLocks noGrp="1"/>
          </p:cNvSpPr>
          <p:nvPr>
            <p:ph sz="quarter" idx="4"/>
          </p:nvPr>
        </p:nvSpPr>
        <p:spPr>
          <a:xfrm>
            <a:off x="6172200" y="2651761"/>
            <a:ext cx="5183188" cy="3525202"/>
          </a:xfrm>
          <a:prstGeom prst="rect">
            <a:avLst/>
          </a:prstGeom>
        </p:spPr>
        <p:txBody>
          <a:bodyPr>
            <a:normAutofit/>
          </a:bodyPr>
          <a:lstStyle>
            <a:lvl1pPr>
              <a:defRPr sz="2800" b="0" i="0"/>
            </a:lvl1pPr>
            <a:lvl2pPr>
              <a:defRPr sz="2400" b="0" i="0"/>
            </a:lvl2pPr>
            <a:lvl3pPr>
              <a:defRPr sz="2400" b="0" i="0"/>
            </a:lvl3pPr>
            <a:lvl4pPr>
              <a:defRPr sz="2000" b="0" i="0"/>
            </a:lvl4pPr>
            <a:lvl5pPr>
              <a:defRPr sz="20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461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9FBE8-57B1-984B-85C1-A3E9EEE3DDAE}"/>
              </a:ext>
            </a:extLst>
          </p:cNvPr>
          <p:cNvSpPr>
            <a:spLocks noGrp="1"/>
          </p:cNvSpPr>
          <p:nvPr>
            <p:ph type="title"/>
          </p:nvPr>
        </p:nvSpPr>
        <p:spPr>
          <a:xfrm>
            <a:off x="838200" y="365125"/>
            <a:ext cx="10515600" cy="1325563"/>
          </a:xfrm>
          <a:prstGeom prst="rect">
            <a:avLst/>
          </a:prstGeom>
        </p:spPr>
        <p:txBody>
          <a:bodyPr/>
          <a:lstStyle>
            <a:lvl1pPr>
              <a:defRPr b="0" i="0"/>
            </a:lvl1pPr>
          </a:lstStyle>
          <a:p>
            <a:r>
              <a:rPr lang="en-US"/>
              <a:t>Click to edit Master title style</a:t>
            </a:r>
            <a:endParaRPr lang="en-US" dirty="0"/>
          </a:p>
        </p:txBody>
      </p:sp>
      <p:sp>
        <p:nvSpPr>
          <p:cNvPr id="4" name="Table Placeholder 3">
            <a:extLst>
              <a:ext uri="{FF2B5EF4-FFF2-40B4-BE49-F238E27FC236}">
                <a16:creationId xmlns:a16="http://schemas.microsoft.com/office/drawing/2014/main" id="{3B3998B0-802F-B748-B5BA-6FE0D7471297}"/>
              </a:ext>
            </a:extLst>
          </p:cNvPr>
          <p:cNvSpPr>
            <a:spLocks noGrp="1"/>
          </p:cNvSpPr>
          <p:nvPr>
            <p:ph type="tbl" sz="quarter" idx="10"/>
          </p:nvPr>
        </p:nvSpPr>
        <p:spPr>
          <a:xfrm>
            <a:off x="841248" y="1828800"/>
            <a:ext cx="10515600" cy="4352544"/>
          </a:xfrm>
        </p:spPr>
        <p:txBody>
          <a:bodyPr/>
          <a:lstStyle>
            <a:lvl1pPr marL="0" indent="0">
              <a:buNone/>
              <a:defRPr b="0" i="0"/>
            </a:lvl1pPr>
          </a:lstStyle>
          <a:p>
            <a:r>
              <a:rPr lang="en-US"/>
              <a:t>Click icon to add table</a:t>
            </a:r>
            <a:endParaRPr lang="en-US" dirty="0"/>
          </a:p>
        </p:txBody>
      </p:sp>
    </p:spTree>
    <p:extLst>
      <p:ext uri="{BB962C8B-B14F-4D97-AF65-F5344CB8AC3E}">
        <p14:creationId xmlns:p14="http://schemas.microsoft.com/office/powerpoint/2010/main" val="1652140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F2A658F-CD0B-4645-8298-83CE8302ACB7}"/>
              </a:ext>
            </a:extLst>
          </p:cNvPr>
          <p:cNvSpPr>
            <a:spLocks noGrp="1"/>
          </p:cNvSpPr>
          <p:nvPr>
            <p:ph type="title"/>
          </p:nvPr>
        </p:nvSpPr>
        <p:spPr>
          <a:xfrm>
            <a:off x="838200" y="365125"/>
            <a:ext cx="10515600" cy="1325563"/>
          </a:xfrm>
          <a:prstGeom prst="rect">
            <a:avLst/>
          </a:prstGeom>
        </p:spPr>
        <p:txBody>
          <a:bodyPr/>
          <a:lstStyle>
            <a:lvl1pPr>
              <a:defRPr b="0" i="0"/>
            </a:lvl1pPr>
          </a:lstStyle>
          <a:p>
            <a:r>
              <a:rPr lang="en-US"/>
              <a:t>Click to edit Master title style</a:t>
            </a:r>
            <a:endParaRPr lang="en-US" dirty="0"/>
          </a:p>
        </p:txBody>
      </p:sp>
      <p:sp>
        <p:nvSpPr>
          <p:cNvPr id="11" name="Picture Placeholder 2">
            <a:extLst>
              <a:ext uri="{FF2B5EF4-FFF2-40B4-BE49-F238E27FC236}">
                <a16:creationId xmlns:a16="http://schemas.microsoft.com/office/drawing/2014/main" id="{0D1DCB07-D8B9-C74E-BA30-F4E3DA9511DA}"/>
              </a:ext>
            </a:extLst>
          </p:cNvPr>
          <p:cNvSpPr>
            <a:spLocks noGrp="1"/>
          </p:cNvSpPr>
          <p:nvPr>
            <p:ph type="pic" sz="quarter" idx="10"/>
          </p:nvPr>
        </p:nvSpPr>
        <p:spPr>
          <a:xfrm>
            <a:off x="0" y="2070101"/>
            <a:ext cx="12192000" cy="4787899"/>
          </a:xfrm>
        </p:spPr>
        <p:txBody>
          <a:bodyPr/>
          <a:lstStyle>
            <a:lvl1pPr marL="0" indent="0">
              <a:buNone/>
              <a:defRPr b="0" i="0"/>
            </a:lvl1pPr>
          </a:lstStyle>
          <a:p>
            <a:r>
              <a:rPr lang="en-US"/>
              <a:t>Click icon to add picture</a:t>
            </a:r>
            <a:endParaRPr lang="en-US" dirty="0"/>
          </a:p>
        </p:txBody>
      </p:sp>
    </p:spTree>
    <p:extLst>
      <p:ext uri="{BB962C8B-B14F-4D97-AF65-F5344CB8AC3E}">
        <p14:creationId xmlns:p14="http://schemas.microsoft.com/office/powerpoint/2010/main" val="301055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A667-DD05-564E-B57D-77CECB3AE44E}"/>
              </a:ext>
            </a:extLst>
          </p:cNvPr>
          <p:cNvSpPr>
            <a:spLocks noGrp="1"/>
          </p:cNvSpPr>
          <p:nvPr>
            <p:ph type="title"/>
          </p:nvPr>
        </p:nvSpPr>
        <p:spPr>
          <a:xfrm>
            <a:off x="838200" y="365125"/>
            <a:ext cx="10515600" cy="1325563"/>
          </a:xfrm>
          <a:prstGeom prst="rect">
            <a:avLst/>
          </a:prstGeom>
        </p:spPr>
        <p:txBody>
          <a:bodyPr/>
          <a:lstStyle>
            <a:lvl1pPr>
              <a:defRPr b="0" i="0"/>
            </a:lvl1pPr>
          </a:lstStyle>
          <a:p>
            <a:r>
              <a:rPr lang="en-US"/>
              <a:t>Click to edit Master title style</a:t>
            </a:r>
            <a:endParaRPr lang="en-US" dirty="0"/>
          </a:p>
        </p:txBody>
      </p:sp>
    </p:spTree>
    <p:extLst>
      <p:ext uri="{BB962C8B-B14F-4D97-AF65-F5344CB8AC3E}">
        <p14:creationId xmlns:p14="http://schemas.microsoft.com/office/powerpoint/2010/main" val="2455599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01000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09ACB7-C4B8-BE4D-89C8-72E79D9640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12648" y="290621"/>
            <a:ext cx="3174161" cy="748622"/>
          </a:xfrm>
          <a:prstGeom prst="rect">
            <a:avLst/>
          </a:prstGeom>
        </p:spPr>
      </p:pic>
      <p:sp>
        <p:nvSpPr>
          <p:cNvPr id="8" name="Title 7">
            <a:extLst>
              <a:ext uri="{FF2B5EF4-FFF2-40B4-BE49-F238E27FC236}">
                <a16:creationId xmlns:a16="http://schemas.microsoft.com/office/drawing/2014/main" id="{8D3CF669-7F3B-FD45-964A-F864A20ECEB4}"/>
              </a:ext>
            </a:extLst>
          </p:cNvPr>
          <p:cNvSpPr>
            <a:spLocks noGrp="1"/>
          </p:cNvSpPr>
          <p:nvPr>
            <p:ph type="title" hasCustomPrompt="1"/>
          </p:nvPr>
        </p:nvSpPr>
        <p:spPr>
          <a:xfrm>
            <a:off x="621194" y="2309018"/>
            <a:ext cx="10515600" cy="1325563"/>
          </a:xfrm>
        </p:spPr>
        <p:txBody>
          <a:bodyPr/>
          <a:lstStyle>
            <a:lvl1pPr>
              <a:defRPr b="1" i="0">
                <a:latin typeface="Avenir Black" panose="02000503020000020003" pitchFamily="2" charset="0"/>
              </a:defRPr>
            </a:lvl1pPr>
          </a:lstStyle>
          <a:p>
            <a:r>
              <a:rPr lang="en-US" dirty="0"/>
              <a:t>CLICK TO EDIT MASTER TITLE STYLE</a:t>
            </a:r>
          </a:p>
        </p:txBody>
      </p:sp>
    </p:spTree>
    <p:extLst>
      <p:ext uri="{BB962C8B-B14F-4D97-AF65-F5344CB8AC3E}">
        <p14:creationId xmlns:p14="http://schemas.microsoft.com/office/powerpoint/2010/main" val="364851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5297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CBCC5045-1D03-7D4A-9807-27BCB241BDDB}"/>
              </a:ext>
            </a:extLst>
          </p:cNvPr>
          <p:cNvSpPr>
            <a:spLocks noGrp="1"/>
          </p:cNvSpPr>
          <p:nvPr>
            <p:ph type="body" idx="1"/>
          </p:nvPr>
        </p:nvSpPr>
        <p:spPr>
          <a:xfrm>
            <a:off x="838200" y="1825625"/>
            <a:ext cx="10515600" cy="4352544"/>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3">
            <a:extLst>
              <a:ext uri="{FF2B5EF4-FFF2-40B4-BE49-F238E27FC236}">
                <a16:creationId xmlns:a16="http://schemas.microsoft.com/office/drawing/2014/main" id="{08139C9B-1722-DF45-9141-674D6389476B}"/>
              </a:ext>
            </a:extLst>
          </p:cNvPr>
          <p:cNvCxnSpPr>
            <a:cxnSpLocks/>
          </p:cNvCxnSpPr>
          <p:nvPr userDrawn="1"/>
        </p:nvCxnSpPr>
        <p:spPr>
          <a:xfrm>
            <a:off x="838200" y="6355845"/>
            <a:ext cx="10515600" cy="0"/>
          </a:xfrm>
          <a:prstGeom prst="line">
            <a:avLst/>
          </a:prstGeom>
          <a:ln>
            <a:solidFill>
              <a:srgbClr val="003087"/>
            </a:solidFill>
          </a:ln>
          <a:effectLst/>
        </p:spPr>
        <p:style>
          <a:lnRef idx="1">
            <a:schemeClr val="accent1"/>
          </a:lnRef>
          <a:fillRef idx="0">
            <a:schemeClr val="accent1"/>
          </a:fillRef>
          <a:effectRef idx="0">
            <a:schemeClr val="accent1"/>
          </a:effectRef>
          <a:fontRef idx="minor">
            <a:schemeClr val="tx1"/>
          </a:fontRef>
        </p:style>
      </p:cxnSp>
      <p:sp>
        <p:nvSpPr>
          <p:cNvPr id="11" name="TextBox 4">
            <a:extLst>
              <a:ext uri="{FF2B5EF4-FFF2-40B4-BE49-F238E27FC236}">
                <a16:creationId xmlns:a16="http://schemas.microsoft.com/office/drawing/2014/main" id="{B074448F-ECDF-DC44-9F43-FD59771C7B33}"/>
              </a:ext>
            </a:extLst>
          </p:cNvPr>
          <p:cNvSpPr txBox="1"/>
          <p:nvPr userDrawn="1"/>
        </p:nvSpPr>
        <p:spPr>
          <a:xfrm>
            <a:off x="838200" y="6355845"/>
            <a:ext cx="1919243" cy="365125"/>
          </a:xfrm>
          <a:prstGeom prst="rect">
            <a:avLst/>
          </a:prstGeom>
          <a:noFill/>
        </p:spPr>
        <p:txBody>
          <a:bodyPr wrap="none" lIns="0" rIns="0" rtlCol="0" anchor="ctr">
            <a:noAutofit/>
          </a:bodyPr>
          <a:lstStyle/>
          <a:p>
            <a:r>
              <a:rPr lang="en-US" sz="1100" b="0" i="0" dirty="0">
                <a:solidFill>
                  <a:srgbClr val="003087"/>
                </a:solidFill>
                <a:latin typeface="Sherman Serif Book" pitchFamily="2" charset="77"/>
                <a:ea typeface="Sherman Serif Book" pitchFamily="2" charset="77"/>
                <a:cs typeface="Verdana" panose="020B0604030504040204" pitchFamily="34" charset="0"/>
              </a:rPr>
              <a:t>Louisiana Tech University</a:t>
            </a:r>
          </a:p>
        </p:txBody>
      </p:sp>
      <p:sp>
        <p:nvSpPr>
          <p:cNvPr id="12" name="TextBox 5">
            <a:extLst>
              <a:ext uri="{FF2B5EF4-FFF2-40B4-BE49-F238E27FC236}">
                <a16:creationId xmlns:a16="http://schemas.microsoft.com/office/drawing/2014/main" id="{5617610D-C255-5549-8A79-A9BD2F9C5841}"/>
              </a:ext>
            </a:extLst>
          </p:cNvPr>
          <p:cNvSpPr txBox="1"/>
          <p:nvPr userDrawn="1"/>
        </p:nvSpPr>
        <p:spPr>
          <a:xfrm>
            <a:off x="9434557" y="6355845"/>
            <a:ext cx="1919243" cy="365125"/>
          </a:xfrm>
          <a:prstGeom prst="rect">
            <a:avLst/>
          </a:prstGeom>
          <a:noFill/>
        </p:spPr>
        <p:txBody>
          <a:bodyPr wrap="none" lIns="0" rIns="0" rtlCol="0" anchor="ctr">
            <a:noAutofit/>
          </a:bodyPr>
          <a:lstStyle/>
          <a:p>
            <a:pPr algn="r"/>
            <a:fld id="{9A343670-1D05-7C47-B2D6-B371475A4076}" type="slidenum">
              <a:rPr lang="en-US" sz="1000" b="0" i="0" smtClean="0">
                <a:solidFill>
                  <a:srgbClr val="003087"/>
                </a:solidFill>
                <a:latin typeface="Avenir Book" panose="02000503020000020003" pitchFamily="2" charset="0"/>
                <a:ea typeface="Sherman Sans Book" pitchFamily="2" charset="77"/>
                <a:cs typeface="Verdana" panose="020B0604030504040204" pitchFamily="34" charset="0"/>
              </a:rPr>
              <a:t>‹#›</a:t>
            </a:fld>
            <a:endParaRPr lang="en-US" sz="1000" b="0" i="0" dirty="0">
              <a:solidFill>
                <a:srgbClr val="003087"/>
              </a:solidFill>
              <a:latin typeface="Avenir Book" panose="02000503020000020003" pitchFamily="2" charset="0"/>
              <a:ea typeface="Sherman Sans Book" pitchFamily="2" charset="77"/>
              <a:cs typeface="Verdana" panose="020B0604030504040204" pitchFamily="34" charset="0"/>
            </a:endParaRPr>
          </a:p>
        </p:txBody>
      </p:sp>
      <p:sp>
        <p:nvSpPr>
          <p:cNvPr id="2" name="Title Placeholder 1">
            <a:extLst>
              <a:ext uri="{FF2B5EF4-FFF2-40B4-BE49-F238E27FC236}">
                <a16:creationId xmlns:a16="http://schemas.microsoft.com/office/drawing/2014/main" id="{1844A096-1C6D-2A4A-9C43-2171800704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668965934"/>
      </p:ext>
    </p:extLst>
  </p:cSld>
  <p:clrMap bg1="lt1" tx1="dk1" bg2="lt2" tx2="dk2" accent1="accent1" accent2="accent2" accent3="accent3" accent4="accent4" accent5="accent5" accent6="accent6" hlink="hlink" folHlink="folHlink"/>
  <p:sldLayoutIdLst>
    <p:sldLayoutId id="2147483680" r:id="rId1"/>
    <p:sldLayoutId id="2147483664" r:id="rId2"/>
    <p:sldLayoutId id="2147483666" r:id="rId3"/>
    <p:sldLayoutId id="2147483678" r:id="rId4"/>
    <p:sldLayoutId id="2147483671" r:id="rId5"/>
    <p:sldLayoutId id="2147483650" r:id="rId6"/>
    <p:sldLayoutId id="2147483652" r:id="rId7"/>
    <p:sldLayoutId id="2147483653" r:id="rId8"/>
    <p:sldLayoutId id="2147483672" r:id="rId9"/>
    <p:sldLayoutId id="2147483655" r:id="rId10"/>
    <p:sldLayoutId id="2147483654" r:id="rId11"/>
    <p:sldLayoutId id="2147483673" r:id="rId12"/>
    <p:sldLayoutId id="2147483694" r:id="rId13"/>
    <p:sldLayoutId id="2147483695" r:id="rId14"/>
  </p:sldLayoutIdLst>
  <p:txStyles>
    <p:titleStyle>
      <a:lvl1pPr algn="l" defTabSz="914400" rtl="0" eaLnBrk="1" latinLnBrk="0" hangingPunct="1">
        <a:lnSpc>
          <a:spcPct val="90000"/>
        </a:lnSpc>
        <a:spcBef>
          <a:spcPct val="0"/>
        </a:spcBef>
        <a:buNone/>
        <a:defRPr sz="3600" b="0" i="0" kern="1200">
          <a:solidFill>
            <a:srgbClr val="003087"/>
          </a:solidFill>
          <a:latin typeface="Avenir Book" panose="02000503020000020003" pitchFamily="2" charset="0"/>
          <a:ea typeface="Avenir Book" panose="02000503020000020003" pitchFamily="2" charset="0"/>
          <a:cs typeface="Verdana" panose="020B0604030504040204" pitchFamily="34" charset="0"/>
        </a:defRPr>
      </a:lvl1pPr>
    </p:titleStyle>
    <p:bodyStyle>
      <a:lvl1pPr marL="228600" indent="-228600" algn="l" defTabSz="914400" rtl="0" eaLnBrk="1" latinLnBrk="0" hangingPunct="1">
        <a:lnSpc>
          <a:spcPct val="90000"/>
        </a:lnSpc>
        <a:spcBef>
          <a:spcPts val="0"/>
        </a:spcBef>
        <a:spcAft>
          <a:spcPts val="1200"/>
        </a:spcAft>
        <a:buClr>
          <a:srgbClr val="003087"/>
        </a:buClr>
        <a:buFont typeface="Arial" panose="020B0604020202020204" pitchFamily="34" charset="0"/>
        <a:buChar char="•"/>
        <a:defRPr sz="3200" b="0" i="0" kern="1200">
          <a:solidFill>
            <a:srgbClr val="003087"/>
          </a:solidFill>
          <a:latin typeface="Avenir Book" panose="02000503020000020003" pitchFamily="2" charset="0"/>
          <a:ea typeface="Avenir Book" panose="02000503020000020003" pitchFamily="2" charset="0"/>
          <a:cs typeface="Verdana" panose="020B0604030504040204" pitchFamily="34" charset="0"/>
        </a:defRPr>
      </a:lvl1pPr>
      <a:lvl2pPr marL="685800" indent="-228600" algn="l" defTabSz="914400" rtl="0" eaLnBrk="1" latinLnBrk="0" hangingPunct="1">
        <a:lnSpc>
          <a:spcPct val="90000"/>
        </a:lnSpc>
        <a:spcBef>
          <a:spcPts val="0"/>
        </a:spcBef>
        <a:spcAft>
          <a:spcPts val="1200"/>
        </a:spcAft>
        <a:buClr>
          <a:srgbClr val="003087"/>
        </a:buClr>
        <a:buFont typeface="System Font Regular"/>
        <a:buChar char="–"/>
        <a:defRPr sz="2800" b="0" i="0" kern="1200">
          <a:solidFill>
            <a:srgbClr val="003087"/>
          </a:solidFill>
          <a:latin typeface="Avenir Book" panose="02000503020000020003" pitchFamily="2" charset="0"/>
          <a:ea typeface="Avenir Book" panose="02000503020000020003" pitchFamily="2" charset="0"/>
          <a:cs typeface="Verdana" panose="020B0604030504040204" pitchFamily="34" charset="0"/>
        </a:defRPr>
      </a:lvl2pPr>
      <a:lvl3pPr marL="1143000" indent="-228600" algn="l" defTabSz="914400" rtl="0" eaLnBrk="1" latinLnBrk="0" hangingPunct="1">
        <a:lnSpc>
          <a:spcPct val="90000"/>
        </a:lnSpc>
        <a:spcBef>
          <a:spcPts val="0"/>
        </a:spcBef>
        <a:spcAft>
          <a:spcPts val="1200"/>
        </a:spcAft>
        <a:buClr>
          <a:srgbClr val="003087"/>
        </a:buClr>
        <a:buFont typeface="Wingdings" pitchFamily="2" charset="2"/>
        <a:buChar char="§"/>
        <a:defRPr sz="2800" b="0" i="0" kern="1200">
          <a:solidFill>
            <a:srgbClr val="003087"/>
          </a:solidFill>
          <a:latin typeface="Avenir Book" panose="02000503020000020003" pitchFamily="2" charset="0"/>
          <a:ea typeface="Avenir Book" panose="02000503020000020003" pitchFamily="2" charset="0"/>
          <a:cs typeface="Verdana" panose="020B0604030504040204" pitchFamily="34" charset="0"/>
        </a:defRPr>
      </a:lvl3pPr>
      <a:lvl4pPr marL="1600200" indent="-228600" algn="l" defTabSz="914400" rtl="0" eaLnBrk="1" latinLnBrk="0" hangingPunct="1">
        <a:lnSpc>
          <a:spcPct val="90000"/>
        </a:lnSpc>
        <a:spcBef>
          <a:spcPts val="0"/>
        </a:spcBef>
        <a:spcAft>
          <a:spcPts val="1200"/>
        </a:spcAft>
        <a:buClr>
          <a:srgbClr val="003087"/>
        </a:buClr>
        <a:buFont typeface="System Font Regular"/>
        <a:buChar char="–"/>
        <a:defRPr sz="2400" b="0" i="0" kern="1200">
          <a:solidFill>
            <a:srgbClr val="003087"/>
          </a:solidFill>
          <a:latin typeface="Avenir Book" panose="02000503020000020003" pitchFamily="2" charset="0"/>
          <a:ea typeface="Avenir Book" panose="02000503020000020003" pitchFamily="2" charset="0"/>
          <a:cs typeface="Verdana" panose="020B0604030504040204" pitchFamily="34" charset="0"/>
        </a:defRPr>
      </a:lvl4pPr>
      <a:lvl5pPr marL="2057400" indent="-228600" algn="l" defTabSz="914400" rtl="0" eaLnBrk="1" latinLnBrk="0" hangingPunct="1">
        <a:lnSpc>
          <a:spcPct val="90000"/>
        </a:lnSpc>
        <a:spcBef>
          <a:spcPts val="0"/>
        </a:spcBef>
        <a:spcAft>
          <a:spcPts val="1200"/>
        </a:spcAft>
        <a:buClr>
          <a:srgbClr val="003087"/>
        </a:buClr>
        <a:buFont typeface="Arial" panose="020B0604020202020204" pitchFamily="34" charset="0"/>
        <a:buChar char="•"/>
        <a:defRPr sz="2400" b="0" i="0" kern="1200">
          <a:solidFill>
            <a:srgbClr val="003087"/>
          </a:solidFill>
          <a:latin typeface="Avenir Book" panose="02000503020000020003" pitchFamily="2" charset="0"/>
          <a:ea typeface="Avenir Book" panose="02000503020000020003" pitchFamily="2"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1E57-759B-7E4A-938D-D085CCF8B128}"/>
              </a:ext>
            </a:extLst>
          </p:cNvPr>
          <p:cNvSpPr>
            <a:spLocks noGrp="1"/>
          </p:cNvSpPr>
          <p:nvPr>
            <p:ph type="ctrTitle"/>
          </p:nvPr>
        </p:nvSpPr>
        <p:spPr>
          <a:xfrm>
            <a:off x="752144" y="1537012"/>
            <a:ext cx="6301475" cy="3052811"/>
          </a:xfrm>
        </p:spPr>
        <p:txBody>
          <a:bodyPr>
            <a:noAutofit/>
          </a:bodyPr>
          <a:lstStyle/>
          <a:p>
            <a:pPr algn="ctr"/>
            <a:r>
              <a:rPr lang="en-US" dirty="0">
                <a:latin typeface="Arial" pitchFamily="34" charset="0"/>
                <a:ea typeface="Arial" pitchFamily="34" charset="-122"/>
                <a:cs typeface="Arial" pitchFamily="34" charset="-120"/>
              </a:rPr>
              <a:t>Clinical Decision Making in Healthcare</a:t>
            </a:r>
            <a:br>
              <a:rPr lang="en-US" dirty="0">
                <a:solidFill>
                  <a:schemeClr val="accent1"/>
                </a:solidFill>
              </a:rPr>
            </a:br>
            <a:br>
              <a:rPr lang="en-US" dirty="0">
                <a:solidFill>
                  <a:schemeClr val="accent1"/>
                </a:solidFill>
              </a:rPr>
            </a:br>
            <a:r>
              <a:rPr lang="en-US" sz="2400" dirty="0">
                <a:solidFill>
                  <a:srgbClr val="02C39A"/>
                </a:solidFill>
                <a:latin typeface="Arial" pitchFamily="34" charset="0"/>
                <a:ea typeface="Arial" pitchFamily="34" charset="-122"/>
                <a:cs typeface="Arial" pitchFamily="34" charset="-120"/>
              </a:rPr>
              <a:t>Pattern Recognition &amp; Predictive Analytics </a:t>
            </a:r>
            <a:br>
              <a:rPr lang="en-US" dirty="0"/>
            </a:br>
            <a:br>
              <a:rPr lang="en-US" dirty="0"/>
            </a:br>
            <a:endParaRPr lang="en-US" dirty="0"/>
          </a:p>
        </p:txBody>
      </p:sp>
      <p:sp>
        <p:nvSpPr>
          <p:cNvPr id="3" name="Subtitle 2">
            <a:extLst>
              <a:ext uri="{FF2B5EF4-FFF2-40B4-BE49-F238E27FC236}">
                <a16:creationId xmlns:a16="http://schemas.microsoft.com/office/drawing/2014/main" id="{CA5640F0-B16B-874E-B235-7B25623FA182}"/>
              </a:ext>
            </a:extLst>
          </p:cNvPr>
          <p:cNvSpPr>
            <a:spLocks noGrp="1"/>
          </p:cNvSpPr>
          <p:nvPr>
            <p:ph type="subTitle" idx="4294967295"/>
          </p:nvPr>
        </p:nvSpPr>
        <p:spPr>
          <a:xfrm>
            <a:off x="646019" y="4900996"/>
            <a:ext cx="6028095" cy="1738908"/>
          </a:xfrm>
        </p:spPr>
        <p:txBody>
          <a:bodyPr>
            <a:normAutofit/>
          </a:bodyPr>
          <a:lstStyle/>
          <a:p>
            <a:pPr marL="0" indent="0" algn="ctr">
              <a:buNone/>
            </a:pPr>
            <a:r>
              <a:rPr lang="en-US" sz="2000" dirty="0">
                <a:latin typeface="Times New Roman" panose="02020603050405020304" pitchFamily="18" charset="0"/>
                <a:cs typeface="Times New Roman" panose="02020603050405020304" pitchFamily="18" charset="0"/>
              </a:rPr>
              <a:t>Vamshikrishna Challa</a:t>
            </a:r>
          </a:p>
          <a:p>
            <a:pPr marL="0" indent="0" algn="ctr">
              <a:buNone/>
            </a:pPr>
            <a:r>
              <a:rPr lang="en-US" sz="2000" dirty="0">
                <a:latin typeface="Times New Roman" panose="02020603050405020304" pitchFamily="18" charset="0"/>
                <a:cs typeface="Times New Roman" panose="02020603050405020304" pitchFamily="18" charset="0"/>
              </a:rPr>
              <a:t>Louisiana Tech University</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95617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609600"/>
          </a:xfrm>
          <a:prstGeom prst="rect">
            <a:avLst/>
          </a:prstGeom>
          <a:noFill/>
          <a:ln/>
        </p:spPr>
        <p:txBody>
          <a:bodyPr wrap="square" rtlCol="0" anchor="ctr"/>
          <a:lstStyle/>
          <a:p>
            <a:r>
              <a:rPr lang="en-US" sz="4267" b="1" dirty="0">
                <a:solidFill>
                  <a:srgbClr val="1F4E78"/>
                </a:solidFill>
                <a:latin typeface="Arial" pitchFamily="34" charset="0"/>
                <a:ea typeface="Arial" pitchFamily="34" charset="-122"/>
                <a:cs typeface="Arial" pitchFamily="34" charset="-120"/>
              </a:rPr>
              <a:t>The Problem</a:t>
            </a:r>
            <a:endParaRPr lang="en-US" sz="4267" dirty="0"/>
          </a:p>
        </p:txBody>
      </p:sp>
      <p:sp>
        <p:nvSpPr>
          <p:cNvPr id="3" name="Shape 1"/>
          <p:cNvSpPr/>
          <p:nvPr/>
        </p:nvSpPr>
        <p:spPr>
          <a:xfrm>
            <a:off x="609600" y="1158240"/>
            <a:ext cx="10972800" cy="48768"/>
          </a:xfrm>
          <a:prstGeom prst="rect">
            <a:avLst/>
          </a:prstGeom>
          <a:solidFill>
            <a:srgbClr val="0066CC"/>
          </a:solidFill>
          <a:ln/>
        </p:spPr>
        <p:txBody>
          <a:bodyPr/>
          <a:lstStyle/>
          <a:p>
            <a:endParaRPr lang="en-US" sz="2400"/>
          </a:p>
        </p:txBody>
      </p:sp>
      <p:sp>
        <p:nvSpPr>
          <p:cNvPr id="4" name="Text 2"/>
          <p:cNvSpPr/>
          <p:nvPr/>
        </p:nvSpPr>
        <p:spPr>
          <a:xfrm>
            <a:off x="853440" y="1828800"/>
            <a:ext cx="10728960" cy="609600"/>
          </a:xfrm>
          <a:prstGeom prst="rect">
            <a:avLst/>
          </a:prstGeom>
          <a:noFill/>
          <a:ln/>
        </p:spPr>
        <p:txBody>
          <a:bodyPr wrap="square" rtlCol="0" anchor="ctr"/>
          <a:lstStyle/>
          <a:p>
            <a:r>
              <a:rPr lang="en-US" sz="2133" dirty="0">
                <a:solidFill>
                  <a:srgbClr val="2C3E50"/>
                </a:solidFill>
                <a:latin typeface="Arial" pitchFamily="34" charset="0"/>
                <a:ea typeface="Arial" pitchFamily="34" charset="-122"/>
                <a:cs typeface="Arial" pitchFamily="34" charset="-120"/>
              </a:rPr>
              <a:t>▪ Hospital readmission penalties: $17.6B annually (CMS)</a:t>
            </a:r>
            <a:endParaRPr lang="en-US" sz="2133" dirty="0"/>
          </a:p>
        </p:txBody>
      </p:sp>
      <p:sp>
        <p:nvSpPr>
          <p:cNvPr id="5" name="Text 3"/>
          <p:cNvSpPr/>
          <p:nvPr/>
        </p:nvSpPr>
        <p:spPr>
          <a:xfrm>
            <a:off x="853440" y="2621280"/>
            <a:ext cx="10728960" cy="609600"/>
          </a:xfrm>
          <a:prstGeom prst="rect">
            <a:avLst/>
          </a:prstGeom>
          <a:noFill/>
          <a:ln/>
        </p:spPr>
        <p:txBody>
          <a:bodyPr wrap="square" rtlCol="0" anchor="ctr"/>
          <a:lstStyle/>
          <a:p>
            <a:r>
              <a:rPr lang="en-US" sz="2133" dirty="0">
                <a:solidFill>
                  <a:srgbClr val="2C3E50"/>
                </a:solidFill>
                <a:latin typeface="Arial" pitchFamily="34" charset="0"/>
                <a:ea typeface="Arial" pitchFamily="34" charset="-122"/>
                <a:cs typeface="Arial" pitchFamily="34" charset="-120"/>
              </a:rPr>
              <a:t>▪ 78% of healthcare orgs lack predictive analytics capability</a:t>
            </a:r>
            <a:endParaRPr lang="en-US" sz="2133" dirty="0"/>
          </a:p>
        </p:txBody>
      </p:sp>
      <p:sp>
        <p:nvSpPr>
          <p:cNvPr id="6" name="Text 4"/>
          <p:cNvSpPr/>
          <p:nvPr/>
        </p:nvSpPr>
        <p:spPr>
          <a:xfrm>
            <a:off x="853440" y="3413760"/>
            <a:ext cx="10728960" cy="609600"/>
          </a:xfrm>
          <a:prstGeom prst="rect">
            <a:avLst/>
          </a:prstGeom>
          <a:noFill/>
          <a:ln/>
        </p:spPr>
        <p:txBody>
          <a:bodyPr wrap="square" rtlCol="0" anchor="ctr"/>
          <a:lstStyle/>
          <a:p>
            <a:r>
              <a:rPr lang="en-US" sz="2133" dirty="0">
                <a:solidFill>
                  <a:srgbClr val="2C3E50"/>
                </a:solidFill>
                <a:latin typeface="Arial" pitchFamily="34" charset="0"/>
                <a:ea typeface="Arial" pitchFamily="34" charset="-122"/>
                <a:cs typeface="Arial" pitchFamily="34" charset="-120"/>
              </a:rPr>
              <a:t>▪ Current approach: Reactive audits instead of predictive insights</a:t>
            </a:r>
            <a:endParaRPr lang="en-US" sz="2133" dirty="0"/>
          </a:p>
        </p:txBody>
      </p:sp>
      <p:sp>
        <p:nvSpPr>
          <p:cNvPr id="7" name="Text 5"/>
          <p:cNvSpPr/>
          <p:nvPr/>
        </p:nvSpPr>
        <p:spPr>
          <a:xfrm>
            <a:off x="853440" y="4206240"/>
            <a:ext cx="10728960" cy="609600"/>
          </a:xfrm>
          <a:prstGeom prst="rect">
            <a:avLst/>
          </a:prstGeom>
          <a:noFill/>
          <a:ln/>
        </p:spPr>
        <p:txBody>
          <a:bodyPr wrap="square" rtlCol="0" anchor="ctr"/>
          <a:lstStyle/>
          <a:p>
            <a:r>
              <a:rPr lang="en-US" sz="2133" dirty="0">
                <a:solidFill>
                  <a:srgbClr val="2C3E50"/>
                </a:solidFill>
                <a:latin typeface="Arial" pitchFamily="34" charset="0"/>
                <a:ea typeface="Arial" pitchFamily="34" charset="-122"/>
                <a:cs typeface="Arial" pitchFamily="34" charset="-120"/>
              </a:rPr>
              <a:t>▪ Opportunity: Transform prior authorization with risk stratification</a:t>
            </a:r>
            <a:endParaRPr lang="en-US" sz="21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609600"/>
          </a:xfrm>
          <a:prstGeom prst="rect">
            <a:avLst/>
          </a:prstGeom>
          <a:noFill/>
          <a:ln/>
        </p:spPr>
        <p:txBody>
          <a:bodyPr wrap="square" rtlCol="0" anchor="ctr"/>
          <a:lstStyle/>
          <a:p>
            <a:r>
              <a:rPr lang="en-US" sz="4267" b="1" dirty="0">
                <a:solidFill>
                  <a:srgbClr val="1F4E78"/>
                </a:solidFill>
                <a:latin typeface="Arial" pitchFamily="34" charset="0"/>
                <a:ea typeface="Arial" pitchFamily="34" charset="-122"/>
                <a:cs typeface="Arial" pitchFamily="34" charset="-120"/>
              </a:rPr>
              <a:t>Research Approach</a:t>
            </a:r>
            <a:endParaRPr lang="en-US" sz="4267" dirty="0"/>
          </a:p>
        </p:txBody>
      </p:sp>
      <p:sp>
        <p:nvSpPr>
          <p:cNvPr id="3" name="Shape 1"/>
          <p:cNvSpPr/>
          <p:nvPr/>
        </p:nvSpPr>
        <p:spPr>
          <a:xfrm>
            <a:off x="609600" y="1158240"/>
            <a:ext cx="10972800" cy="48768"/>
          </a:xfrm>
          <a:prstGeom prst="rect">
            <a:avLst/>
          </a:prstGeom>
          <a:solidFill>
            <a:srgbClr val="0066CC"/>
          </a:solidFill>
          <a:ln/>
        </p:spPr>
        <p:txBody>
          <a:bodyPr/>
          <a:lstStyle/>
          <a:p>
            <a:endParaRPr lang="en-US" sz="2400"/>
          </a:p>
        </p:txBody>
      </p:sp>
      <p:sp>
        <p:nvSpPr>
          <p:cNvPr id="4" name="Text 2"/>
          <p:cNvSpPr/>
          <p:nvPr/>
        </p:nvSpPr>
        <p:spPr>
          <a:xfrm>
            <a:off x="853440" y="1828800"/>
            <a:ext cx="3048000" cy="365760"/>
          </a:xfrm>
          <a:prstGeom prst="rect">
            <a:avLst/>
          </a:prstGeom>
          <a:noFill/>
          <a:ln/>
        </p:spPr>
        <p:txBody>
          <a:bodyPr wrap="square" rtlCol="0" anchor="ctr"/>
          <a:lstStyle/>
          <a:p>
            <a:r>
              <a:rPr lang="en-US" sz="1867" b="1" dirty="0">
                <a:solidFill>
                  <a:srgbClr val="0066CC"/>
                </a:solidFill>
                <a:latin typeface="Arial" pitchFamily="34" charset="0"/>
                <a:ea typeface="Arial" pitchFamily="34" charset="-122"/>
                <a:cs typeface="Arial" pitchFamily="34" charset="-120"/>
              </a:rPr>
              <a:t>Data Engineering</a:t>
            </a:r>
            <a:endParaRPr lang="en-US" sz="1867" dirty="0"/>
          </a:p>
        </p:txBody>
      </p:sp>
      <p:sp>
        <p:nvSpPr>
          <p:cNvPr id="5" name="Text 3"/>
          <p:cNvSpPr/>
          <p:nvPr/>
        </p:nvSpPr>
        <p:spPr>
          <a:xfrm>
            <a:off x="4023360" y="1828800"/>
            <a:ext cx="7559040" cy="487680"/>
          </a:xfrm>
          <a:prstGeom prst="rect">
            <a:avLst/>
          </a:prstGeom>
          <a:noFill/>
          <a:ln/>
        </p:spPr>
        <p:txBody>
          <a:bodyPr wrap="square" rtlCol="0" anchor="ctr"/>
          <a:lstStyle/>
          <a:p>
            <a:r>
              <a:rPr lang="en-US" sz="1733" dirty="0">
                <a:solidFill>
                  <a:srgbClr val="2C3E50"/>
                </a:solidFill>
                <a:latin typeface="Arial" pitchFamily="34" charset="0"/>
                <a:ea typeface="Arial" pitchFamily="34" charset="-122"/>
                <a:cs typeface="Arial" pitchFamily="34" charset="-120"/>
              </a:rPr>
              <a:t>Synthetic patient dataset (1,000 records) with realistic clinical features</a:t>
            </a:r>
            <a:endParaRPr lang="en-US" sz="1733" dirty="0"/>
          </a:p>
        </p:txBody>
      </p:sp>
      <p:sp>
        <p:nvSpPr>
          <p:cNvPr id="6" name="Text 4"/>
          <p:cNvSpPr/>
          <p:nvPr/>
        </p:nvSpPr>
        <p:spPr>
          <a:xfrm>
            <a:off x="853440" y="2743200"/>
            <a:ext cx="3048000" cy="365760"/>
          </a:xfrm>
          <a:prstGeom prst="rect">
            <a:avLst/>
          </a:prstGeom>
          <a:noFill/>
          <a:ln/>
        </p:spPr>
        <p:txBody>
          <a:bodyPr wrap="square" rtlCol="0" anchor="ctr"/>
          <a:lstStyle/>
          <a:p>
            <a:r>
              <a:rPr lang="en-US" sz="1867" b="1" dirty="0">
                <a:solidFill>
                  <a:srgbClr val="0066CC"/>
                </a:solidFill>
                <a:latin typeface="Arial" pitchFamily="34" charset="0"/>
                <a:ea typeface="Arial" pitchFamily="34" charset="-122"/>
                <a:cs typeface="Arial" pitchFamily="34" charset="-120"/>
              </a:rPr>
              <a:t>Feature Selection</a:t>
            </a:r>
            <a:endParaRPr lang="en-US" sz="1867" dirty="0"/>
          </a:p>
        </p:txBody>
      </p:sp>
      <p:sp>
        <p:nvSpPr>
          <p:cNvPr id="7" name="Text 5"/>
          <p:cNvSpPr/>
          <p:nvPr/>
        </p:nvSpPr>
        <p:spPr>
          <a:xfrm>
            <a:off x="4023360" y="2743200"/>
            <a:ext cx="7559040" cy="487680"/>
          </a:xfrm>
          <a:prstGeom prst="rect">
            <a:avLst/>
          </a:prstGeom>
          <a:noFill/>
          <a:ln/>
        </p:spPr>
        <p:txBody>
          <a:bodyPr wrap="square" rtlCol="0" anchor="ctr"/>
          <a:lstStyle/>
          <a:p>
            <a:r>
              <a:rPr lang="en-US" sz="1733" dirty="0">
                <a:solidFill>
                  <a:srgbClr val="2C3E50"/>
                </a:solidFill>
                <a:latin typeface="Arial" pitchFamily="34" charset="0"/>
                <a:ea typeface="Arial" pitchFamily="34" charset="-122"/>
                <a:cs typeface="Arial" pitchFamily="34" charset="-120"/>
              </a:rPr>
              <a:t>Age, diagnoses, medications, chronic conditions, comorbidity score</a:t>
            </a:r>
            <a:endParaRPr lang="en-US" sz="1733" dirty="0"/>
          </a:p>
        </p:txBody>
      </p:sp>
      <p:sp>
        <p:nvSpPr>
          <p:cNvPr id="8" name="Text 6"/>
          <p:cNvSpPr/>
          <p:nvPr/>
        </p:nvSpPr>
        <p:spPr>
          <a:xfrm>
            <a:off x="853440" y="3657600"/>
            <a:ext cx="3048000" cy="365760"/>
          </a:xfrm>
          <a:prstGeom prst="rect">
            <a:avLst/>
          </a:prstGeom>
          <a:noFill/>
          <a:ln/>
        </p:spPr>
        <p:txBody>
          <a:bodyPr wrap="square" rtlCol="0" anchor="ctr"/>
          <a:lstStyle/>
          <a:p>
            <a:r>
              <a:rPr lang="en-US" sz="1867" b="1" dirty="0">
                <a:solidFill>
                  <a:srgbClr val="0066CC"/>
                </a:solidFill>
                <a:latin typeface="Arial" pitchFamily="34" charset="0"/>
                <a:ea typeface="Arial" pitchFamily="34" charset="-122"/>
                <a:cs typeface="Arial" pitchFamily="34" charset="-120"/>
              </a:rPr>
              <a:t>Model Development</a:t>
            </a:r>
            <a:endParaRPr lang="en-US" sz="1867" dirty="0"/>
          </a:p>
        </p:txBody>
      </p:sp>
      <p:sp>
        <p:nvSpPr>
          <p:cNvPr id="9" name="Text 7"/>
          <p:cNvSpPr/>
          <p:nvPr/>
        </p:nvSpPr>
        <p:spPr>
          <a:xfrm>
            <a:off x="4023360" y="3657600"/>
            <a:ext cx="7559040" cy="487680"/>
          </a:xfrm>
          <a:prstGeom prst="rect">
            <a:avLst/>
          </a:prstGeom>
          <a:noFill/>
          <a:ln/>
        </p:spPr>
        <p:txBody>
          <a:bodyPr wrap="square" rtlCol="0" anchor="ctr"/>
          <a:lstStyle/>
          <a:p>
            <a:r>
              <a:rPr lang="en-US" sz="1733" dirty="0">
                <a:solidFill>
                  <a:srgbClr val="2C3E50"/>
                </a:solidFill>
                <a:latin typeface="Arial" pitchFamily="34" charset="0"/>
                <a:ea typeface="Arial" pitchFamily="34" charset="-122"/>
                <a:cs typeface="Arial" pitchFamily="34" charset="-120"/>
              </a:rPr>
              <a:t>Random Forest classifier (interpretable, production-ready)</a:t>
            </a:r>
            <a:endParaRPr lang="en-US" sz="1733" dirty="0"/>
          </a:p>
        </p:txBody>
      </p:sp>
      <p:sp>
        <p:nvSpPr>
          <p:cNvPr id="10" name="Text 8"/>
          <p:cNvSpPr/>
          <p:nvPr/>
        </p:nvSpPr>
        <p:spPr>
          <a:xfrm>
            <a:off x="853440" y="4572000"/>
            <a:ext cx="3048000" cy="365760"/>
          </a:xfrm>
          <a:prstGeom prst="rect">
            <a:avLst/>
          </a:prstGeom>
          <a:noFill/>
          <a:ln/>
        </p:spPr>
        <p:txBody>
          <a:bodyPr wrap="square" rtlCol="0" anchor="ctr"/>
          <a:lstStyle/>
          <a:p>
            <a:r>
              <a:rPr lang="en-US" sz="1867" b="1" dirty="0">
                <a:solidFill>
                  <a:srgbClr val="0066CC"/>
                </a:solidFill>
                <a:latin typeface="Arial" pitchFamily="34" charset="0"/>
                <a:ea typeface="Arial" pitchFamily="34" charset="-122"/>
                <a:cs typeface="Arial" pitchFamily="34" charset="-120"/>
              </a:rPr>
              <a:t>Risk Stratification</a:t>
            </a:r>
            <a:endParaRPr lang="en-US" sz="1867" dirty="0"/>
          </a:p>
        </p:txBody>
      </p:sp>
      <p:sp>
        <p:nvSpPr>
          <p:cNvPr id="11" name="Text 9"/>
          <p:cNvSpPr/>
          <p:nvPr/>
        </p:nvSpPr>
        <p:spPr>
          <a:xfrm>
            <a:off x="4023360" y="4572000"/>
            <a:ext cx="7559040" cy="487680"/>
          </a:xfrm>
          <a:prstGeom prst="rect">
            <a:avLst/>
          </a:prstGeom>
          <a:noFill/>
          <a:ln/>
        </p:spPr>
        <p:txBody>
          <a:bodyPr wrap="square" rtlCol="0" anchor="ctr"/>
          <a:lstStyle/>
          <a:p>
            <a:r>
              <a:rPr lang="en-US" sz="1733" dirty="0">
                <a:solidFill>
                  <a:srgbClr val="2C3E50"/>
                </a:solidFill>
                <a:latin typeface="Arial" pitchFamily="34" charset="0"/>
                <a:ea typeface="Arial" pitchFamily="34" charset="-122"/>
                <a:cs typeface="Arial" pitchFamily="34" charset="-120"/>
              </a:rPr>
              <a:t>Classification into low/moderate/high risk tiers for clinical decision support</a:t>
            </a:r>
            <a:endParaRPr lang="en-US" sz="173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609600"/>
          </a:xfrm>
          <a:prstGeom prst="rect">
            <a:avLst/>
          </a:prstGeom>
          <a:noFill/>
          <a:ln/>
        </p:spPr>
        <p:txBody>
          <a:bodyPr wrap="square" rtlCol="0" anchor="ctr"/>
          <a:lstStyle/>
          <a:p>
            <a:r>
              <a:rPr lang="en-US" sz="4267" b="1" dirty="0">
                <a:solidFill>
                  <a:srgbClr val="1F4E78"/>
                </a:solidFill>
                <a:latin typeface="Arial" pitchFamily="34" charset="0"/>
                <a:ea typeface="Arial" pitchFamily="34" charset="-122"/>
                <a:cs typeface="Arial" pitchFamily="34" charset="-120"/>
              </a:rPr>
              <a:t>Data Pipeline Architecture</a:t>
            </a:r>
            <a:endParaRPr lang="en-US" sz="4267" dirty="0"/>
          </a:p>
        </p:txBody>
      </p:sp>
      <p:sp>
        <p:nvSpPr>
          <p:cNvPr id="3" name="Shape 1"/>
          <p:cNvSpPr/>
          <p:nvPr/>
        </p:nvSpPr>
        <p:spPr>
          <a:xfrm>
            <a:off x="609600" y="1158240"/>
            <a:ext cx="10972800" cy="48768"/>
          </a:xfrm>
          <a:prstGeom prst="rect">
            <a:avLst/>
          </a:prstGeom>
          <a:solidFill>
            <a:srgbClr val="0066CC"/>
          </a:solidFill>
          <a:ln/>
        </p:spPr>
        <p:txBody>
          <a:bodyPr/>
          <a:lstStyle/>
          <a:p>
            <a:endParaRPr lang="en-US" sz="2400"/>
          </a:p>
        </p:txBody>
      </p:sp>
      <p:sp>
        <p:nvSpPr>
          <p:cNvPr id="4" name="Shape 2"/>
          <p:cNvSpPr/>
          <p:nvPr/>
        </p:nvSpPr>
        <p:spPr>
          <a:xfrm>
            <a:off x="975360" y="2194560"/>
            <a:ext cx="1828800" cy="975360"/>
          </a:xfrm>
          <a:prstGeom prst="rect">
            <a:avLst/>
          </a:prstGeom>
          <a:solidFill>
            <a:srgbClr val="E8F0F8"/>
          </a:solidFill>
          <a:ln w="25400">
            <a:solidFill>
              <a:srgbClr val="0066CC"/>
            </a:solidFill>
            <a:prstDash val="solid"/>
          </a:ln>
        </p:spPr>
        <p:txBody>
          <a:bodyPr/>
          <a:lstStyle/>
          <a:p>
            <a:endParaRPr lang="en-US" sz="2400"/>
          </a:p>
        </p:txBody>
      </p:sp>
      <p:sp>
        <p:nvSpPr>
          <p:cNvPr id="5" name="Text 3"/>
          <p:cNvSpPr/>
          <p:nvPr/>
        </p:nvSpPr>
        <p:spPr>
          <a:xfrm>
            <a:off x="975360" y="2194560"/>
            <a:ext cx="1828800" cy="975360"/>
          </a:xfrm>
          <a:prstGeom prst="rect">
            <a:avLst/>
          </a:prstGeom>
          <a:noFill/>
          <a:ln/>
        </p:spPr>
        <p:txBody>
          <a:bodyPr wrap="square" rtlCol="0" anchor="ctr"/>
          <a:lstStyle/>
          <a:p>
            <a:pPr algn="ctr"/>
            <a:r>
              <a:rPr lang="en-US" sz="1467" b="1" dirty="0">
                <a:solidFill>
                  <a:srgbClr val="1F4E78"/>
                </a:solidFill>
                <a:latin typeface="Arial" pitchFamily="34" charset="0"/>
                <a:ea typeface="Arial" pitchFamily="34" charset="-122"/>
                <a:cs typeface="Arial" pitchFamily="34" charset="-120"/>
              </a:rPr>
              <a:t>Patient</a:t>
            </a:r>
            <a:endParaRPr lang="en-US" sz="1467" dirty="0"/>
          </a:p>
          <a:p>
            <a:pPr algn="ctr"/>
            <a:r>
              <a:rPr lang="en-US" sz="1467" b="1" dirty="0">
                <a:solidFill>
                  <a:srgbClr val="1F4E78"/>
                </a:solidFill>
                <a:latin typeface="Arial" pitchFamily="34" charset="0"/>
                <a:ea typeface="Arial" pitchFamily="34" charset="-122"/>
                <a:cs typeface="Arial" pitchFamily="34" charset="-120"/>
              </a:rPr>
              <a:t>Data</a:t>
            </a:r>
            <a:endParaRPr lang="en-US" sz="1467" dirty="0"/>
          </a:p>
        </p:txBody>
      </p:sp>
      <p:sp>
        <p:nvSpPr>
          <p:cNvPr id="6" name="Shape 4"/>
          <p:cNvSpPr/>
          <p:nvPr/>
        </p:nvSpPr>
        <p:spPr>
          <a:xfrm>
            <a:off x="2804160" y="2560320"/>
            <a:ext cx="731520" cy="365760"/>
          </a:xfrm>
          <a:prstGeom prst="rightArrow">
            <a:avLst/>
          </a:prstGeom>
          <a:solidFill>
            <a:srgbClr val="0066CC"/>
          </a:solidFill>
          <a:ln/>
        </p:spPr>
        <p:txBody>
          <a:bodyPr/>
          <a:lstStyle/>
          <a:p>
            <a:endParaRPr lang="en-US" sz="2400"/>
          </a:p>
        </p:txBody>
      </p:sp>
      <p:sp>
        <p:nvSpPr>
          <p:cNvPr id="7" name="Shape 5"/>
          <p:cNvSpPr/>
          <p:nvPr/>
        </p:nvSpPr>
        <p:spPr>
          <a:xfrm>
            <a:off x="3048000" y="2194560"/>
            <a:ext cx="1828800" cy="975360"/>
          </a:xfrm>
          <a:prstGeom prst="rect">
            <a:avLst/>
          </a:prstGeom>
          <a:solidFill>
            <a:srgbClr val="D0E0F0"/>
          </a:solidFill>
          <a:ln w="25400">
            <a:solidFill>
              <a:srgbClr val="0066CC"/>
            </a:solidFill>
            <a:prstDash val="solid"/>
          </a:ln>
        </p:spPr>
        <p:txBody>
          <a:bodyPr/>
          <a:lstStyle/>
          <a:p>
            <a:endParaRPr lang="en-US" sz="2400"/>
          </a:p>
        </p:txBody>
      </p:sp>
      <p:sp>
        <p:nvSpPr>
          <p:cNvPr id="8" name="Text 6"/>
          <p:cNvSpPr/>
          <p:nvPr/>
        </p:nvSpPr>
        <p:spPr>
          <a:xfrm>
            <a:off x="3048000" y="2194560"/>
            <a:ext cx="1828800" cy="975360"/>
          </a:xfrm>
          <a:prstGeom prst="rect">
            <a:avLst/>
          </a:prstGeom>
          <a:noFill/>
          <a:ln/>
        </p:spPr>
        <p:txBody>
          <a:bodyPr wrap="square" rtlCol="0" anchor="ctr"/>
          <a:lstStyle/>
          <a:p>
            <a:pPr algn="ctr"/>
            <a:r>
              <a:rPr lang="en-US" sz="1467" b="1" dirty="0">
                <a:solidFill>
                  <a:srgbClr val="1F4E78"/>
                </a:solidFill>
                <a:latin typeface="Arial" pitchFamily="34" charset="0"/>
                <a:ea typeface="Arial" pitchFamily="34" charset="-122"/>
                <a:cs typeface="Arial" pitchFamily="34" charset="-120"/>
              </a:rPr>
              <a:t>Feature</a:t>
            </a:r>
            <a:endParaRPr lang="en-US" sz="1467" dirty="0"/>
          </a:p>
          <a:p>
            <a:pPr algn="ctr"/>
            <a:r>
              <a:rPr lang="en-US" sz="1467" b="1" dirty="0">
                <a:solidFill>
                  <a:srgbClr val="1F4E78"/>
                </a:solidFill>
                <a:latin typeface="Arial" pitchFamily="34" charset="0"/>
                <a:ea typeface="Arial" pitchFamily="34" charset="-122"/>
                <a:cs typeface="Arial" pitchFamily="34" charset="-120"/>
              </a:rPr>
              <a:t>Engineering</a:t>
            </a:r>
            <a:endParaRPr lang="en-US" sz="1467" dirty="0"/>
          </a:p>
        </p:txBody>
      </p:sp>
      <p:sp>
        <p:nvSpPr>
          <p:cNvPr id="9" name="Shape 7"/>
          <p:cNvSpPr/>
          <p:nvPr/>
        </p:nvSpPr>
        <p:spPr>
          <a:xfrm>
            <a:off x="4876800" y="2560320"/>
            <a:ext cx="853440" cy="365760"/>
          </a:xfrm>
          <a:prstGeom prst="rightArrow">
            <a:avLst/>
          </a:prstGeom>
          <a:solidFill>
            <a:srgbClr val="0066CC"/>
          </a:solidFill>
          <a:ln/>
        </p:spPr>
        <p:txBody>
          <a:bodyPr/>
          <a:lstStyle/>
          <a:p>
            <a:endParaRPr lang="en-US" sz="2400"/>
          </a:p>
        </p:txBody>
      </p:sp>
      <p:sp>
        <p:nvSpPr>
          <p:cNvPr id="10" name="Shape 8"/>
          <p:cNvSpPr/>
          <p:nvPr/>
        </p:nvSpPr>
        <p:spPr>
          <a:xfrm>
            <a:off x="5120640" y="2194560"/>
            <a:ext cx="1828800" cy="975360"/>
          </a:xfrm>
          <a:prstGeom prst="rect">
            <a:avLst/>
          </a:prstGeom>
          <a:solidFill>
            <a:srgbClr val="B8D0E8"/>
          </a:solidFill>
          <a:ln w="25400">
            <a:solidFill>
              <a:srgbClr val="0066CC"/>
            </a:solidFill>
            <a:prstDash val="solid"/>
          </a:ln>
        </p:spPr>
        <p:txBody>
          <a:bodyPr/>
          <a:lstStyle/>
          <a:p>
            <a:endParaRPr lang="en-US" sz="2400"/>
          </a:p>
        </p:txBody>
      </p:sp>
      <p:sp>
        <p:nvSpPr>
          <p:cNvPr id="11" name="Text 9"/>
          <p:cNvSpPr/>
          <p:nvPr/>
        </p:nvSpPr>
        <p:spPr>
          <a:xfrm>
            <a:off x="5120640" y="2194560"/>
            <a:ext cx="1828800" cy="975360"/>
          </a:xfrm>
          <a:prstGeom prst="rect">
            <a:avLst/>
          </a:prstGeom>
          <a:noFill/>
          <a:ln/>
        </p:spPr>
        <p:txBody>
          <a:bodyPr wrap="square" rtlCol="0" anchor="ctr"/>
          <a:lstStyle/>
          <a:p>
            <a:pPr algn="ctr"/>
            <a:r>
              <a:rPr lang="en-US" sz="1467" b="1" dirty="0">
                <a:solidFill>
                  <a:srgbClr val="1F4E78"/>
                </a:solidFill>
                <a:latin typeface="Arial" pitchFamily="34" charset="0"/>
                <a:ea typeface="Arial" pitchFamily="34" charset="-122"/>
                <a:cs typeface="Arial" pitchFamily="34" charset="-120"/>
              </a:rPr>
              <a:t>Model</a:t>
            </a:r>
            <a:endParaRPr lang="en-US" sz="1467" dirty="0"/>
          </a:p>
          <a:p>
            <a:pPr algn="ctr"/>
            <a:r>
              <a:rPr lang="en-US" sz="1467" b="1" dirty="0">
                <a:solidFill>
                  <a:srgbClr val="1F4E78"/>
                </a:solidFill>
                <a:latin typeface="Arial" pitchFamily="34" charset="0"/>
                <a:ea typeface="Arial" pitchFamily="34" charset="-122"/>
                <a:cs typeface="Arial" pitchFamily="34" charset="-120"/>
              </a:rPr>
              <a:t>Training</a:t>
            </a:r>
            <a:endParaRPr lang="en-US" sz="1467" dirty="0"/>
          </a:p>
        </p:txBody>
      </p:sp>
      <p:sp>
        <p:nvSpPr>
          <p:cNvPr id="12" name="Shape 10"/>
          <p:cNvSpPr/>
          <p:nvPr/>
        </p:nvSpPr>
        <p:spPr>
          <a:xfrm>
            <a:off x="6866849" y="2560320"/>
            <a:ext cx="936031" cy="365760"/>
          </a:xfrm>
          <a:prstGeom prst="rightArrow">
            <a:avLst/>
          </a:prstGeom>
          <a:solidFill>
            <a:srgbClr val="0066CC"/>
          </a:solidFill>
          <a:ln/>
        </p:spPr>
        <p:txBody>
          <a:bodyPr/>
          <a:lstStyle/>
          <a:p>
            <a:endParaRPr lang="en-US" sz="2400"/>
          </a:p>
        </p:txBody>
      </p:sp>
      <p:sp>
        <p:nvSpPr>
          <p:cNvPr id="13" name="Shape 11"/>
          <p:cNvSpPr/>
          <p:nvPr/>
        </p:nvSpPr>
        <p:spPr>
          <a:xfrm>
            <a:off x="7193280" y="2194560"/>
            <a:ext cx="1828800" cy="975360"/>
          </a:xfrm>
          <a:prstGeom prst="rect">
            <a:avLst/>
          </a:prstGeom>
          <a:solidFill>
            <a:srgbClr val="A0C0E0"/>
          </a:solidFill>
          <a:ln w="25400">
            <a:solidFill>
              <a:srgbClr val="0066CC"/>
            </a:solidFill>
            <a:prstDash val="solid"/>
          </a:ln>
        </p:spPr>
        <p:txBody>
          <a:bodyPr/>
          <a:lstStyle/>
          <a:p>
            <a:endParaRPr lang="en-US" sz="2400"/>
          </a:p>
        </p:txBody>
      </p:sp>
      <p:sp>
        <p:nvSpPr>
          <p:cNvPr id="14" name="Text 12"/>
          <p:cNvSpPr/>
          <p:nvPr/>
        </p:nvSpPr>
        <p:spPr>
          <a:xfrm>
            <a:off x="7193280" y="2194560"/>
            <a:ext cx="1828800" cy="975360"/>
          </a:xfrm>
          <a:prstGeom prst="rect">
            <a:avLst/>
          </a:prstGeom>
          <a:noFill/>
          <a:ln/>
        </p:spPr>
        <p:txBody>
          <a:bodyPr wrap="square" rtlCol="0" anchor="ctr"/>
          <a:lstStyle/>
          <a:p>
            <a:pPr algn="ctr"/>
            <a:r>
              <a:rPr lang="en-US" sz="1467" b="1" dirty="0">
                <a:solidFill>
                  <a:srgbClr val="1F4E78"/>
                </a:solidFill>
                <a:latin typeface="Arial" pitchFamily="34" charset="0"/>
                <a:ea typeface="Arial" pitchFamily="34" charset="-122"/>
                <a:cs typeface="Arial" pitchFamily="34" charset="-120"/>
              </a:rPr>
              <a:t>Risk</a:t>
            </a:r>
            <a:endParaRPr lang="en-US" sz="1467" dirty="0"/>
          </a:p>
          <a:p>
            <a:pPr algn="ctr"/>
            <a:r>
              <a:rPr lang="en-US" sz="1467" b="1" dirty="0">
                <a:solidFill>
                  <a:srgbClr val="1F4E78"/>
                </a:solidFill>
                <a:latin typeface="Arial" pitchFamily="34" charset="0"/>
                <a:ea typeface="Arial" pitchFamily="34" charset="-122"/>
                <a:cs typeface="Arial" pitchFamily="34" charset="-120"/>
              </a:rPr>
              <a:t>Scoring</a:t>
            </a:r>
            <a:endParaRPr lang="en-US" sz="1467" dirty="0"/>
          </a:p>
        </p:txBody>
      </p:sp>
      <p:sp>
        <p:nvSpPr>
          <p:cNvPr id="15" name="Shape 13"/>
          <p:cNvSpPr/>
          <p:nvPr/>
        </p:nvSpPr>
        <p:spPr>
          <a:xfrm>
            <a:off x="9022080" y="2560320"/>
            <a:ext cx="853440" cy="365760"/>
          </a:xfrm>
          <a:prstGeom prst="rightArrow">
            <a:avLst/>
          </a:prstGeom>
          <a:solidFill>
            <a:srgbClr val="0066CC"/>
          </a:solidFill>
          <a:ln/>
        </p:spPr>
        <p:txBody>
          <a:bodyPr/>
          <a:lstStyle/>
          <a:p>
            <a:endParaRPr lang="en-US" sz="2400"/>
          </a:p>
        </p:txBody>
      </p:sp>
      <p:sp>
        <p:nvSpPr>
          <p:cNvPr id="16" name="Shape 14"/>
          <p:cNvSpPr/>
          <p:nvPr/>
        </p:nvSpPr>
        <p:spPr>
          <a:xfrm>
            <a:off x="9265920" y="2194560"/>
            <a:ext cx="1828800" cy="975360"/>
          </a:xfrm>
          <a:prstGeom prst="rect">
            <a:avLst/>
          </a:prstGeom>
          <a:solidFill>
            <a:srgbClr val="88B0D8"/>
          </a:solidFill>
          <a:ln w="25400">
            <a:solidFill>
              <a:srgbClr val="0066CC"/>
            </a:solidFill>
            <a:prstDash val="solid"/>
          </a:ln>
        </p:spPr>
        <p:txBody>
          <a:bodyPr/>
          <a:lstStyle/>
          <a:p>
            <a:endParaRPr lang="en-US" sz="2400"/>
          </a:p>
        </p:txBody>
      </p:sp>
      <p:sp>
        <p:nvSpPr>
          <p:cNvPr id="17" name="Text 15"/>
          <p:cNvSpPr/>
          <p:nvPr/>
        </p:nvSpPr>
        <p:spPr>
          <a:xfrm>
            <a:off x="9265920" y="2194560"/>
            <a:ext cx="1828800" cy="975360"/>
          </a:xfrm>
          <a:prstGeom prst="rect">
            <a:avLst/>
          </a:prstGeom>
          <a:noFill/>
          <a:ln/>
        </p:spPr>
        <p:txBody>
          <a:bodyPr wrap="square" rtlCol="0" anchor="ctr"/>
          <a:lstStyle/>
          <a:p>
            <a:pPr algn="ctr"/>
            <a:r>
              <a:rPr lang="en-US" sz="1467" b="1" dirty="0">
                <a:solidFill>
                  <a:srgbClr val="1F4E78"/>
                </a:solidFill>
                <a:latin typeface="Arial" pitchFamily="34" charset="0"/>
                <a:ea typeface="Arial" pitchFamily="34" charset="-122"/>
                <a:cs typeface="Arial" pitchFamily="34" charset="-120"/>
              </a:rPr>
              <a:t>Clinical</a:t>
            </a:r>
            <a:endParaRPr lang="en-US" sz="1467" dirty="0"/>
          </a:p>
          <a:p>
            <a:pPr algn="ctr"/>
            <a:r>
              <a:rPr lang="en-US" sz="1467" b="1" dirty="0">
                <a:solidFill>
                  <a:srgbClr val="1F4E78"/>
                </a:solidFill>
                <a:latin typeface="Arial" pitchFamily="34" charset="0"/>
                <a:ea typeface="Arial" pitchFamily="34" charset="-122"/>
                <a:cs typeface="Arial" pitchFamily="34" charset="-120"/>
              </a:rPr>
              <a:t>Decision</a:t>
            </a:r>
            <a:endParaRPr lang="en-US" sz="1467" dirty="0"/>
          </a:p>
        </p:txBody>
      </p:sp>
      <p:sp>
        <p:nvSpPr>
          <p:cNvPr id="18" name="Text 16"/>
          <p:cNvSpPr/>
          <p:nvPr/>
        </p:nvSpPr>
        <p:spPr>
          <a:xfrm>
            <a:off x="609600" y="3535680"/>
            <a:ext cx="10972800" cy="487680"/>
          </a:xfrm>
          <a:prstGeom prst="rect">
            <a:avLst/>
          </a:prstGeom>
          <a:noFill/>
          <a:ln/>
        </p:spPr>
        <p:txBody>
          <a:bodyPr wrap="square" rtlCol="0" anchor="ctr"/>
          <a:lstStyle/>
          <a:p>
            <a:pPr algn="ctr"/>
            <a:r>
              <a:rPr lang="en-US" sz="1600" i="1" dirty="0">
                <a:solidFill>
                  <a:srgbClr val="2C3E50"/>
                </a:solidFill>
                <a:latin typeface="Arial" pitchFamily="34" charset="0"/>
                <a:ea typeface="Arial" pitchFamily="34" charset="-122"/>
                <a:cs typeface="Arial" pitchFamily="34" charset="-120"/>
              </a:rPr>
              <a:t>Input: 1,000 patients | Output: Risk-stratified cohorts for prior authorization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609600"/>
          </a:xfrm>
          <a:prstGeom prst="rect">
            <a:avLst/>
          </a:prstGeom>
          <a:noFill/>
          <a:ln/>
        </p:spPr>
        <p:txBody>
          <a:bodyPr wrap="square" rtlCol="0" anchor="ctr"/>
          <a:lstStyle/>
          <a:p>
            <a:r>
              <a:rPr lang="en-US" sz="4267" b="1" dirty="0">
                <a:solidFill>
                  <a:srgbClr val="1F4E78"/>
                </a:solidFill>
                <a:latin typeface="Arial" pitchFamily="34" charset="0"/>
                <a:ea typeface="Arial" pitchFamily="34" charset="-122"/>
                <a:cs typeface="Arial" pitchFamily="34" charset="-120"/>
              </a:rPr>
              <a:t>Machine Learning Model</a:t>
            </a:r>
            <a:endParaRPr lang="en-US" sz="4267" dirty="0"/>
          </a:p>
        </p:txBody>
      </p:sp>
      <p:sp>
        <p:nvSpPr>
          <p:cNvPr id="3" name="Shape 1"/>
          <p:cNvSpPr/>
          <p:nvPr/>
        </p:nvSpPr>
        <p:spPr>
          <a:xfrm>
            <a:off x="609600" y="1158240"/>
            <a:ext cx="10972800" cy="48768"/>
          </a:xfrm>
          <a:prstGeom prst="rect">
            <a:avLst/>
          </a:prstGeom>
          <a:solidFill>
            <a:srgbClr val="0066CC"/>
          </a:solidFill>
          <a:ln/>
        </p:spPr>
        <p:txBody>
          <a:bodyPr/>
          <a:lstStyle/>
          <a:p>
            <a:endParaRPr lang="en-US" sz="2400"/>
          </a:p>
        </p:txBody>
      </p:sp>
      <p:sp>
        <p:nvSpPr>
          <p:cNvPr id="4" name="Shape 2"/>
          <p:cNvSpPr/>
          <p:nvPr/>
        </p:nvSpPr>
        <p:spPr>
          <a:xfrm>
            <a:off x="609600" y="1706880"/>
            <a:ext cx="4876800" cy="3657600"/>
          </a:xfrm>
          <a:prstGeom prst="rect">
            <a:avLst/>
          </a:prstGeom>
          <a:solidFill>
            <a:srgbClr val="FFFFFF"/>
          </a:solidFill>
          <a:ln w="12700">
            <a:solidFill>
              <a:srgbClr val="0066CC"/>
            </a:solidFill>
            <a:prstDash val="solid"/>
          </a:ln>
        </p:spPr>
        <p:txBody>
          <a:bodyPr/>
          <a:lstStyle/>
          <a:p>
            <a:endParaRPr lang="en-US" sz="2400"/>
          </a:p>
        </p:txBody>
      </p:sp>
      <p:sp>
        <p:nvSpPr>
          <p:cNvPr id="5" name="Text 3"/>
          <p:cNvSpPr/>
          <p:nvPr/>
        </p:nvSpPr>
        <p:spPr>
          <a:xfrm>
            <a:off x="853440" y="1950720"/>
            <a:ext cx="4389120" cy="3169920"/>
          </a:xfrm>
          <a:prstGeom prst="rect">
            <a:avLst/>
          </a:prstGeom>
          <a:noFill/>
          <a:ln/>
        </p:spPr>
        <p:txBody>
          <a:bodyPr wrap="square" rtlCol="0" anchor="t"/>
          <a:lstStyle/>
          <a:p>
            <a:r>
              <a:rPr lang="en-US" sz="1600" dirty="0">
                <a:solidFill>
                  <a:srgbClr val="2C3E50"/>
                </a:solidFill>
                <a:latin typeface="Arial" pitchFamily="34" charset="0"/>
                <a:ea typeface="Arial" pitchFamily="34" charset="-122"/>
                <a:cs typeface="Arial" pitchFamily="34" charset="-120"/>
              </a:rPr>
              <a:t>Algorithm: Random Forest</a:t>
            </a:r>
            <a:endParaRPr lang="en-US" sz="1600" dirty="0"/>
          </a:p>
          <a:p>
            <a:endParaRPr lang="en-US" sz="1600" dirty="0"/>
          </a:p>
          <a:p>
            <a:r>
              <a:rPr lang="en-US" sz="1600" dirty="0">
                <a:solidFill>
                  <a:srgbClr val="2C3E50"/>
                </a:solidFill>
                <a:latin typeface="Arial" pitchFamily="34" charset="0"/>
                <a:ea typeface="Arial" pitchFamily="34" charset="-122"/>
                <a:cs typeface="Arial" pitchFamily="34" charset="-120"/>
              </a:rPr>
              <a:t>Rationale:</a:t>
            </a:r>
            <a:endParaRPr lang="en-US" sz="1600" dirty="0"/>
          </a:p>
          <a:p>
            <a:r>
              <a:rPr lang="en-US" sz="1600" dirty="0">
                <a:solidFill>
                  <a:srgbClr val="2C3E50"/>
                </a:solidFill>
                <a:latin typeface="Arial" pitchFamily="34" charset="0"/>
                <a:ea typeface="Arial" pitchFamily="34" charset="-122"/>
                <a:cs typeface="Arial" pitchFamily="34" charset="-120"/>
              </a:rPr>
              <a:t>✓ Interpretable (feature importance)</a:t>
            </a:r>
            <a:endParaRPr lang="en-US" sz="1600" dirty="0"/>
          </a:p>
          <a:p>
            <a:r>
              <a:rPr lang="en-US" sz="1600" dirty="0">
                <a:solidFill>
                  <a:srgbClr val="2C3E50"/>
                </a:solidFill>
                <a:latin typeface="Arial" pitchFamily="34" charset="0"/>
                <a:ea typeface="Arial" pitchFamily="34" charset="-122"/>
                <a:cs typeface="Arial" pitchFamily="34" charset="-120"/>
              </a:rPr>
              <a:t>✓ Handles mixed data types</a:t>
            </a:r>
            <a:endParaRPr lang="en-US" sz="1600" dirty="0"/>
          </a:p>
          <a:p>
            <a:r>
              <a:rPr lang="en-US" sz="1600" dirty="0">
                <a:solidFill>
                  <a:srgbClr val="2C3E50"/>
                </a:solidFill>
                <a:latin typeface="Arial" pitchFamily="34" charset="0"/>
                <a:ea typeface="Arial" pitchFamily="34" charset="-122"/>
                <a:cs typeface="Arial" pitchFamily="34" charset="-120"/>
              </a:rPr>
              <a:t>✓ Robust to outliers</a:t>
            </a:r>
            <a:endParaRPr lang="en-US" sz="1600" dirty="0"/>
          </a:p>
          <a:p>
            <a:r>
              <a:rPr lang="en-US" sz="1600" dirty="0">
                <a:solidFill>
                  <a:srgbClr val="2C3E50"/>
                </a:solidFill>
                <a:latin typeface="Arial" pitchFamily="34" charset="0"/>
                <a:ea typeface="Arial" pitchFamily="34" charset="-122"/>
                <a:cs typeface="Arial" pitchFamily="34" charset="-120"/>
              </a:rPr>
              <a:t>✓ Production-ready performance</a:t>
            </a:r>
            <a:endParaRPr lang="en-US" sz="1600" dirty="0"/>
          </a:p>
          <a:p>
            <a:endParaRPr lang="en-US" sz="1600" dirty="0"/>
          </a:p>
          <a:p>
            <a:r>
              <a:rPr lang="en-US" sz="1600" dirty="0">
                <a:solidFill>
                  <a:srgbClr val="2C3E50"/>
                </a:solidFill>
                <a:latin typeface="Arial" pitchFamily="34" charset="0"/>
                <a:ea typeface="Arial" pitchFamily="34" charset="-122"/>
                <a:cs typeface="Arial" pitchFamily="34" charset="-120"/>
              </a:rPr>
              <a:t>Training Data: 800 patients (80%)</a:t>
            </a:r>
            <a:endParaRPr lang="en-US" sz="1600" dirty="0"/>
          </a:p>
          <a:p>
            <a:r>
              <a:rPr lang="en-US" sz="1600" dirty="0">
                <a:solidFill>
                  <a:srgbClr val="2C3E50"/>
                </a:solidFill>
                <a:latin typeface="Arial" pitchFamily="34" charset="0"/>
                <a:ea typeface="Arial" pitchFamily="34" charset="-122"/>
                <a:cs typeface="Arial" pitchFamily="34" charset="-120"/>
              </a:rPr>
              <a:t>Test Data: 200 patients (20%)</a:t>
            </a:r>
            <a:endParaRPr lang="en-US" sz="1600" dirty="0"/>
          </a:p>
        </p:txBody>
      </p:sp>
      <p:sp>
        <p:nvSpPr>
          <p:cNvPr id="6" name="Shape 4"/>
          <p:cNvSpPr/>
          <p:nvPr/>
        </p:nvSpPr>
        <p:spPr>
          <a:xfrm>
            <a:off x="6096000" y="1706880"/>
            <a:ext cx="5486400" cy="3657600"/>
          </a:xfrm>
          <a:prstGeom prst="rect">
            <a:avLst/>
          </a:prstGeom>
          <a:solidFill>
            <a:srgbClr val="FFFFFF"/>
          </a:solidFill>
          <a:ln w="12700">
            <a:solidFill>
              <a:srgbClr val="0066CC"/>
            </a:solidFill>
            <a:prstDash val="solid"/>
          </a:ln>
        </p:spPr>
        <p:txBody>
          <a:bodyPr/>
          <a:lstStyle/>
          <a:p>
            <a:endParaRPr lang="en-US" sz="2400"/>
          </a:p>
        </p:txBody>
      </p:sp>
      <p:sp>
        <p:nvSpPr>
          <p:cNvPr id="7" name="Text 5"/>
          <p:cNvSpPr/>
          <p:nvPr/>
        </p:nvSpPr>
        <p:spPr>
          <a:xfrm>
            <a:off x="6339840" y="1950720"/>
            <a:ext cx="2438400" cy="365760"/>
          </a:xfrm>
          <a:prstGeom prst="rect">
            <a:avLst/>
          </a:prstGeom>
          <a:noFill/>
          <a:ln/>
        </p:spPr>
        <p:txBody>
          <a:bodyPr wrap="square" rtlCol="0" anchor="ctr"/>
          <a:lstStyle/>
          <a:p>
            <a:r>
              <a:rPr lang="en-US" sz="1600" b="1" dirty="0">
                <a:solidFill>
                  <a:srgbClr val="0066CC"/>
                </a:solidFill>
                <a:latin typeface="Arial" pitchFamily="34" charset="0"/>
                <a:ea typeface="Arial" pitchFamily="34" charset="-122"/>
                <a:cs typeface="Arial" pitchFamily="34" charset="-120"/>
              </a:rPr>
              <a:t>ROC-AUC</a:t>
            </a:r>
            <a:endParaRPr lang="en-US" sz="1600" dirty="0"/>
          </a:p>
        </p:txBody>
      </p:sp>
      <p:sp>
        <p:nvSpPr>
          <p:cNvPr id="8" name="Text 6"/>
          <p:cNvSpPr/>
          <p:nvPr/>
        </p:nvSpPr>
        <p:spPr>
          <a:xfrm>
            <a:off x="8778240" y="1950720"/>
            <a:ext cx="2438400" cy="365760"/>
          </a:xfrm>
          <a:prstGeom prst="rect">
            <a:avLst/>
          </a:prstGeom>
          <a:noFill/>
          <a:ln/>
        </p:spPr>
        <p:txBody>
          <a:bodyPr wrap="square" rtlCol="0" anchor="ctr"/>
          <a:lstStyle/>
          <a:p>
            <a:r>
              <a:rPr lang="en-US" sz="1600" b="1" dirty="0">
                <a:solidFill>
                  <a:srgbClr val="1F4E78"/>
                </a:solidFill>
                <a:latin typeface="Arial" pitchFamily="34" charset="0"/>
                <a:ea typeface="Arial" pitchFamily="34" charset="-122"/>
                <a:cs typeface="Arial" pitchFamily="34" charset="-120"/>
              </a:rPr>
              <a:t>94.7%</a:t>
            </a:r>
            <a:endParaRPr lang="en-US" sz="1600" dirty="0"/>
          </a:p>
        </p:txBody>
      </p:sp>
      <p:sp>
        <p:nvSpPr>
          <p:cNvPr id="9" name="Text 7"/>
          <p:cNvSpPr/>
          <p:nvPr/>
        </p:nvSpPr>
        <p:spPr>
          <a:xfrm>
            <a:off x="6339840" y="2560320"/>
            <a:ext cx="2438400" cy="365760"/>
          </a:xfrm>
          <a:prstGeom prst="rect">
            <a:avLst/>
          </a:prstGeom>
          <a:noFill/>
          <a:ln/>
        </p:spPr>
        <p:txBody>
          <a:bodyPr wrap="square" rtlCol="0" anchor="ctr"/>
          <a:lstStyle/>
          <a:p>
            <a:r>
              <a:rPr lang="en-US" sz="1600" b="1" dirty="0">
                <a:solidFill>
                  <a:srgbClr val="0066CC"/>
                </a:solidFill>
                <a:latin typeface="Arial" pitchFamily="34" charset="0"/>
                <a:ea typeface="Arial" pitchFamily="34" charset="-122"/>
                <a:cs typeface="Arial" pitchFamily="34" charset="-120"/>
              </a:rPr>
              <a:t>Accuracy</a:t>
            </a:r>
            <a:endParaRPr lang="en-US" sz="1600" dirty="0"/>
          </a:p>
        </p:txBody>
      </p:sp>
      <p:sp>
        <p:nvSpPr>
          <p:cNvPr id="10" name="Text 8"/>
          <p:cNvSpPr/>
          <p:nvPr/>
        </p:nvSpPr>
        <p:spPr>
          <a:xfrm>
            <a:off x="8778240" y="2560320"/>
            <a:ext cx="2438400" cy="365760"/>
          </a:xfrm>
          <a:prstGeom prst="rect">
            <a:avLst/>
          </a:prstGeom>
          <a:noFill/>
          <a:ln/>
        </p:spPr>
        <p:txBody>
          <a:bodyPr wrap="square" rtlCol="0" anchor="ctr"/>
          <a:lstStyle/>
          <a:p>
            <a:r>
              <a:rPr lang="en-US" sz="1600" b="1" dirty="0">
                <a:solidFill>
                  <a:srgbClr val="1F4E78"/>
                </a:solidFill>
                <a:latin typeface="Arial" pitchFamily="34" charset="0"/>
                <a:ea typeface="Arial" pitchFamily="34" charset="-122"/>
                <a:cs typeface="Arial" pitchFamily="34" charset="-120"/>
              </a:rPr>
              <a:t>89%</a:t>
            </a:r>
            <a:endParaRPr lang="en-US" sz="1600" dirty="0"/>
          </a:p>
        </p:txBody>
      </p:sp>
      <p:sp>
        <p:nvSpPr>
          <p:cNvPr id="11" name="Text 9"/>
          <p:cNvSpPr/>
          <p:nvPr/>
        </p:nvSpPr>
        <p:spPr>
          <a:xfrm>
            <a:off x="6339840" y="3169920"/>
            <a:ext cx="2438400" cy="365760"/>
          </a:xfrm>
          <a:prstGeom prst="rect">
            <a:avLst/>
          </a:prstGeom>
          <a:noFill/>
          <a:ln/>
        </p:spPr>
        <p:txBody>
          <a:bodyPr wrap="square" rtlCol="0" anchor="ctr"/>
          <a:lstStyle/>
          <a:p>
            <a:r>
              <a:rPr lang="en-US" sz="1600" b="1" dirty="0">
                <a:solidFill>
                  <a:srgbClr val="0066CC"/>
                </a:solidFill>
                <a:latin typeface="Arial" pitchFamily="34" charset="0"/>
                <a:ea typeface="Arial" pitchFamily="34" charset="-122"/>
                <a:cs typeface="Arial" pitchFamily="34" charset="-120"/>
              </a:rPr>
              <a:t>Sensitivity</a:t>
            </a:r>
            <a:endParaRPr lang="en-US" sz="1600" dirty="0"/>
          </a:p>
        </p:txBody>
      </p:sp>
      <p:sp>
        <p:nvSpPr>
          <p:cNvPr id="12" name="Text 10"/>
          <p:cNvSpPr/>
          <p:nvPr/>
        </p:nvSpPr>
        <p:spPr>
          <a:xfrm>
            <a:off x="8778240" y="3169920"/>
            <a:ext cx="2438400" cy="365760"/>
          </a:xfrm>
          <a:prstGeom prst="rect">
            <a:avLst/>
          </a:prstGeom>
          <a:noFill/>
          <a:ln/>
        </p:spPr>
        <p:txBody>
          <a:bodyPr wrap="square" rtlCol="0" anchor="ctr"/>
          <a:lstStyle/>
          <a:p>
            <a:r>
              <a:rPr lang="en-US" sz="1600" b="1" dirty="0">
                <a:solidFill>
                  <a:srgbClr val="1F4E78"/>
                </a:solidFill>
                <a:latin typeface="Arial" pitchFamily="34" charset="0"/>
                <a:ea typeface="Arial" pitchFamily="34" charset="-122"/>
                <a:cs typeface="Arial" pitchFamily="34" charset="-120"/>
              </a:rPr>
              <a:t>95%</a:t>
            </a:r>
            <a:endParaRPr lang="en-US" sz="1600" dirty="0"/>
          </a:p>
        </p:txBody>
      </p:sp>
      <p:sp>
        <p:nvSpPr>
          <p:cNvPr id="13" name="Text 11"/>
          <p:cNvSpPr/>
          <p:nvPr/>
        </p:nvSpPr>
        <p:spPr>
          <a:xfrm>
            <a:off x="6339840" y="3779520"/>
            <a:ext cx="2438400" cy="365760"/>
          </a:xfrm>
          <a:prstGeom prst="rect">
            <a:avLst/>
          </a:prstGeom>
          <a:noFill/>
          <a:ln/>
        </p:spPr>
        <p:txBody>
          <a:bodyPr wrap="square" rtlCol="0" anchor="ctr"/>
          <a:lstStyle/>
          <a:p>
            <a:r>
              <a:rPr lang="en-US" sz="1600" b="1" dirty="0">
                <a:solidFill>
                  <a:srgbClr val="0066CC"/>
                </a:solidFill>
                <a:latin typeface="Arial" pitchFamily="34" charset="0"/>
                <a:ea typeface="Arial" pitchFamily="34" charset="-122"/>
                <a:cs typeface="Arial" pitchFamily="34" charset="-120"/>
              </a:rPr>
              <a:t>Specificity</a:t>
            </a:r>
            <a:endParaRPr lang="en-US" sz="1600" dirty="0"/>
          </a:p>
        </p:txBody>
      </p:sp>
      <p:sp>
        <p:nvSpPr>
          <p:cNvPr id="14" name="Text 12"/>
          <p:cNvSpPr/>
          <p:nvPr/>
        </p:nvSpPr>
        <p:spPr>
          <a:xfrm>
            <a:off x="8778240" y="3779520"/>
            <a:ext cx="2438400" cy="365760"/>
          </a:xfrm>
          <a:prstGeom prst="rect">
            <a:avLst/>
          </a:prstGeom>
          <a:noFill/>
          <a:ln/>
        </p:spPr>
        <p:txBody>
          <a:bodyPr wrap="square" rtlCol="0" anchor="ctr"/>
          <a:lstStyle/>
          <a:p>
            <a:r>
              <a:rPr lang="en-US" sz="1600" b="1" dirty="0">
                <a:solidFill>
                  <a:srgbClr val="1F4E78"/>
                </a:solidFill>
                <a:latin typeface="Arial" pitchFamily="34" charset="0"/>
                <a:ea typeface="Arial" pitchFamily="34" charset="-122"/>
                <a:cs typeface="Arial" pitchFamily="34" charset="-120"/>
              </a:rPr>
              <a:t>67%</a:t>
            </a:r>
            <a:endParaRPr lang="en-US" sz="1600" dirty="0"/>
          </a:p>
        </p:txBody>
      </p:sp>
      <p:sp>
        <p:nvSpPr>
          <p:cNvPr id="15" name="Text 13"/>
          <p:cNvSpPr/>
          <p:nvPr/>
        </p:nvSpPr>
        <p:spPr>
          <a:xfrm>
            <a:off x="6339840" y="4431792"/>
            <a:ext cx="5486400" cy="426720"/>
          </a:xfrm>
          <a:prstGeom prst="rect">
            <a:avLst/>
          </a:prstGeom>
          <a:noFill/>
          <a:ln/>
        </p:spPr>
        <p:txBody>
          <a:bodyPr wrap="square" rtlCol="0" anchor="ctr"/>
          <a:lstStyle/>
          <a:p>
            <a:r>
              <a:rPr lang="en-US" sz="1467" i="1" dirty="0">
                <a:solidFill>
                  <a:srgbClr val="2C3E50"/>
                </a:solidFill>
                <a:latin typeface="Arial" pitchFamily="34" charset="0"/>
                <a:ea typeface="Arial" pitchFamily="34" charset="-122"/>
                <a:cs typeface="Arial" pitchFamily="34" charset="-120"/>
              </a:rPr>
              <a:t>Interpretation: Excellent discrimination</a:t>
            </a:r>
            <a:endParaRPr lang="en-US" sz="1467" dirty="0"/>
          </a:p>
          <a:p>
            <a:r>
              <a:rPr lang="en-US" sz="1467" i="1" dirty="0">
                <a:solidFill>
                  <a:srgbClr val="2C3E50"/>
                </a:solidFill>
                <a:latin typeface="Arial" pitchFamily="34" charset="0"/>
                <a:ea typeface="Arial" pitchFamily="34" charset="-122"/>
                <a:cs typeface="Arial" pitchFamily="34" charset="-120"/>
              </a:rPr>
              <a:t>between low-risk and high-risk patients</a:t>
            </a:r>
            <a:endParaRPr lang="en-US" sz="146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609600"/>
          </a:xfrm>
          <a:prstGeom prst="rect">
            <a:avLst/>
          </a:prstGeom>
          <a:noFill/>
          <a:ln/>
        </p:spPr>
        <p:txBody>
          <a:bodyPr wrap="square" rtlCol="0" anchor="ctr"/>
          <a:lstStyle/>
          <a:p>
            <a:r>
              <a:rPr lang="en-US" sz="4267" b="1" dirty="0">
                <a:solidFill>
                  <a:srgbClr val="1F4E78"/>
                </a:solidFill>
                <a:latin typeface="Arial" pitchFamily="34" charset="0"/>
                <a:ea typeface="Arial" pitchFamily="34" charset="-122"/>
                <a:cs typeface="Arial" pitchFamily="34" charset="-120"/>
              </a:rPr>
              <a:t>Feature Importance Analysis</a:t>
            </a:r>
            <a:endParaRPr lang="en-US" sz="4267" dirty="0"/>
          </a:p>
        </p:txBody>
      </p:sp>
      <p:sp>
        <p:nvSpPr>
          <p:cNvPr id="3" name="Shape 1"/>
          <p:cNvSpPr/>
          <p:nvPr/>
        </p:nvSpPr>
        <p:spPr>
          <a:xfrm>
            <a:off x="609600" y="1158240"/>
            <a:ext cx="10972800" cy="48768"/>
          </a:xfrm>
          <a:prstGeom prst="rect">
            <a:avLst/>
          </a:prstGeom>
          <a:solidFill>
            <a:srgbClr val="0066CC"/>
          </a:solidFill>
          <a:ln/>
        </p:spPr>
        <p:txBody>
          <a:bodyPr/>
          <a:lstStyle/>
          <a:p>
            <a:endParaRPr lang="en-US" sz="2400"/>
          </a:p>
        </p:txBody>
      </p:sp>
      <p:sp>
        <p:nvSpPr>
          <p:cNvPr id="4" name="Text 2"/>
          <p:cNvSpPr/>
          <p:nvPr/>
        </p:nvSpPr>
        <p:spPr>
          <a:xfrm>
            <a:off x="853440" y="1828800"/>
            <a:ext cx="3413760" cy="365760"/>
          </a:xfrm>
          <a:prstGeom prst="rect">
            <a:avLst/>
          </a:prstGeom>
          <a:noFill/>
          <a:ln/>
        </p:spPr>
        <p:txBody>
          <a:bodyPr wrap="square" rtlCol="0" anchor="ctr"/>
          <a:lstStyle/>
          <a:p>
            <a:r>
              <a:rPr lang="en-US" sz="1600" dirty="0">
                <a:solidFill>
                  <a:srgbClr val="2C3E50"/>
                </a:solidFill>
                <a:latin typeface="Arial" pitchFamily="34" charset="0"/>
                <a:ea typeface="Arial" pitchFamily="34" charset="-122"/>
                <a:cs typeface="Arial" pitchFamily="34" charset="-120"/>
              </a:rPr>
              <a:t>Age</a:t>
            </a:r>
            <a:endParaRPr lang="en-US" sz="1600" dirty="0"/>
          </a:p>
        </p:txBody>
      </p:sp>
      <p:sp>
        <p:nvSpPr>
          <p:cNvPr id="5" name="Shape 3"/>
          <p:cNvSpPr/>
          <p:nvPr/>
        </p:nvSpPr>
        <p:spPr>
          <a:xfrm>
            <a:off x="4389121" y="1889760"/>
            <a:ext cx="5793639" cy="243840"/>
          </a:xfrm>
          <a:prstGeom prst="rect">
            <a:avLst/>
          </a:prstGeom>
          <a:solidFill>
            <a:srgbClr val="0066CC"/>
          </a:solidFill>
          <a:ln/>
        </p:spPr>
        <p:txBody>
          <a:bodyPr/>
          <a:lstStyle/>
          <a:p>
            <a:endParaRPr lang="en-US" sz="2400"/>
          </a:p>
        </p:txBody>
      </p:sp>
      <p:sp>
        <p:nvSpPr>
          <p:cNvPr id="6" name="Text 4"/>
          <p:cNvSpPr/>
          <p:nvPr/>
        </p:nvSpPr>
        <p:spPr>
          <a:xfrm>
            <a:off x="10760423" y="1889760"/>
            <a:ext cx="1065817" cy="304800"/>
          </a:xfrm>
          <a:prstGeom prst="rect">
            <a:avLst/>
          </a:prstGeom>
          <a:noFill/>
          <a:ln/>
        </p:spPr>
        <p:txBody>
          <a:bodyPr wrap="square" rtlCol="0" anchor="ctr"/>
          <a:lstStyle/>
          <a:p>
            <a:pPr algn="r"/>
            <a:r>
              <a:rPr lang="en-US" sz="1600" b="1" dirty="0">
                <a:solidFill>
                  <a:srgbClr val="1F4E78"/>
                </a:solidFill>
                <a:latin typeface="Arial" pitchFamily="34" charset="0"/>
                <a:ea typeface="Arial" pitchFamily="34" charset="-122"/>
                <a:cs typeface="Arial" pitchFamily="34" charset="-120"/>
              </a:rPr>
              <a:t>21.6%</a:t>
            </a:r>
            <a:endParaRPr lang="en-US" sz="1600" dirty="0"/>
          </a:p>
        </p:txBody>
      </p:sp>
      <p:sp>
        <p:nvSpPr>
          <p:cNvPr id="7" name="Text 5"/>
          <p:cNvSpPr/>
          <p:nvPr/>
        </p:nvSpPr>
        <p:spPr>
          <a:xfrm>
            <a:off x="853440" y="2621280"/>
            <a:ext cx="3413760" cy="365760"/>
          </a:xfrm>
          <a:prstGeom prst="rect">
            <a:avLst/>
          </a:prstGeom>
          <a:noFill/>
          <a:ln/>
        </p:spPr>
        <p:txBody>
          <a:bodyPr wrap="square" rtlCol="0" anchor="ctr"/>
          <a:lstStyle/>
          <a:p>
            <a:r>
              <a:rPr lang="en-US" sz="1600" dirty="0">
                <a:solidFill>
                  <a:srgbClr val="2C3E50"/>
                </a:solidFill>
                <a:latin typeface="Arial" pitchFamily="34" charset="0"/>
                <a:ea typeface="Arial" pitchFamily="34" charset="-122"/>
                <a:cs typeface="Arial" pitchFamily="34" charset="-120"/>
              </a:rPr>
              <a:t>Number of Medications</a:t>
            </a:r>
            <a:endParaRPr lang="en-US" sz="1600" dirty="0"/>
          </a:p>
        </p:txBody>
      </p:sp>
      <p:sp>
        <p:nvSpPr>
          <p:cNvPr id="8" name="Shape 6"/>
          <p:cNvSpPr/>
          <p:nvPr/>
        </p:nvSpPr>
        <p:spPr>
          <a:xfrm>
            <a:off x="4389120" y="2682240"/>
            <a:ext cx="4372051" cy="243840"/>
          </a:xfrm>
          <a:prstGeom prst="rect">
            <a:avLst/>
          </a:prstGeom>
          <a:solidFill>
            <a:srgbClr val="0066CC"/>
          </a:solidFill>
          <a:ln/>
        </p:spPr>
        <p:txBody>
          <a:bodyPr/>
          <a:lstStyle/>
          <a:p>
            <a:endParaRPr lang="en-US" sz="2400"/>
          </a:p>
        </p:txBody>
      </p:sp>
      <p:sp>
        <p:nvSpPr>
          <p:cNvPr id="9" name="Text 7"/>
          <p:cNvSpPr/>
          <p:nvPr/>
        </p:nvSpPr>
        <p:spPr>
          <a:xfrm>
            <a:off x="10990498" y="2621280"/>
            <a:ext cx="835742" cy="365760"/>
          </a:xfrm>
          <a:prstGeom prst="rect">
            <a:avLst/>
          </a:prstGeom>
          <a:noFill/>
          <a:ln/>
        </p:spPr>
        <p:txBody>
          <a:bodyPr wrap="square" rtlCol="0" anchor="ctr"/>
          <a:lstStyle/>
          <a:p>
            <a:pPr algn="r"/>
            <a:r>
              <a:rPr lang="en-US" sz="1600" b="1" dirty="0">
                <a:solidFill>
                  <a:srgbClr val="1F4E78"/>
                </a:solidFill>
                <a:latin typeface="Arial" pitchFamily="34" charset="0"/>
                <a:ea typeface="Arial" pitchFamily="34" charset="-122"/>
                <a:cs typeface="Arial" pitchFamily="34" charset="-120"/>
              </a:rPr>
              <a:t>16.3%</a:t>
            </a:r>
            <a:endParaRPr lang="en-US" sz="1600" dirty="0"/>
          </a:p>
        </p:txBody>
      </p:sp>
      <p:sp>
        <p:nvSpPr>
          <p:cNvPr id="10" name="Text 8"/>
          <p:cNvSpPr/>
          <p:nvPr/>
        </p:nvSpPr>
        <p:spPr>
          <a:xfrm>
            <a:off x="853440" y="3413760"/>
            <a:ext cx="3413760" cy="365760"/>
          </a:xfrm>
          <a:prstGeom prst="rect">
            <a:avLst/>
          </a:prstGeom>
          <a:noFill/>
          <a:ln/>
        </p:spPr>
        <p:txBody>
          <a:bodyPr wrap="square" rtlCol="0" anchor="ctr"/>
          <a:lstStyle/>
          <a:p>
            <a:r>
              <a:rPr lang="en-US" sz="1600" dirty="0">
                <a:solidFill>
                  <a:srgbClr val="2C3E50"/>
                </a:solidFill>
                <a:latin typeface="Arial" pitchFamily="34" charset="0"/>
                <a:ea typeface="Arial" pitchFamily="34" charset="-122"/>
                <a:cs typeface="Arial" pitchFamily="34" charset="-120"/>
              </a:rPr>
              <a:t>Number of Diagnoses</a:t>
            </a:r>
            <a:endParaRPr lang="en-US" sz="1600" dirty="0"/>
          </a:p>
        </p:txBody>
      </p:sp>
      <p:sp>
        <p:nvSpPr>
          <p:cNvPr id="11" name="Shape 9"/>
          <p:cNvSpPr/>
          <p:nvPr/>
        </p:nvSpPr>
        <p:spPr>
          <a:xfrm>
            <a:off x="4389120" y="3474720"/>
            <a:ext cx="4077005" cy="243840"/>
          </a:xfrm>
          <a:prstGeom prst="rect">
            <a:avLst/>
          </a:prstGeom>
          <a:solidFill>
            <a:srgbClr val="0066CC"/>
          </a:solidFill>
          <a:ln/>
        </p:spPr>
        <p:txBody>
          <a:bodyPr/>
          <a:lstStyle/>
          <a:p>
            <a:endParaRPr lang="en-US" sz="2400"/>
          </a:p>
        </p:txBody>
      </p:sp>
      <p:sp>
        <p:nvSpPr>
          <p:cNvPr id="12" name="Text 10"/>
          <p:cNvSpPr/>
          <p:nvPr/>
        </p:nvSpPr>
        <p:spPr>
          <a:xfrm>
            <a:off x="10902008" y="3413760"/>
            <a:ext cx="924232" cy="365760"/>
          </a:xfrm>
          <a:prstGeom prst="rect">
            <a:avLst/>
          </a:prstGeom>
          <a:noFill/>
          <a:ln/>
        </p:spPr>
        <p:txBody>
          <a:bodyPr wrap="square" rtlCol="0" anchor="ctr"/>
          <a:lstStyle/>
          <a:p>
            <a:pPr algn="r"/>
            <a:r>
              <a:rPr lang="en-US" sz="1600" b="1" dirty="0">
                <a:solidFill>
                  <a:srgbClr val="1F4E78"/>
                </a:solidFill>
                <a:latin typeface="Arial" pitchFamily="34" charset="0"/>
                <a:ea typeface="Arial" pitchFamily="34" charset="-122"/>
                <a:cs typeface="Arial" pitchFamily="34" charset="-120"/>
              </a:rPr>
              <a:t>15.2%</a:t>
            </a:r>
            <a:endParaRPr lang="en-US" sz="1600" dirty="0"/>
          </a:p>
        </p:txBody>
      </p:sp>
      <p:sp>
        <p:nvSpPr>
          <p:cNvPr id="13" name="Text 11"/>
          <p:cNvSpPr/>
          <p:nvPr/>
        </p:nvSpPr>
        <p:spPr>
          <a:xfrm>
            <a:off x="853440" y="4206240"/>
            <a:ext cx="3413760" cy="365760"/>
          </a:xfrm>
          <a:prstGeom prst="rect">
            <a:avLst/>
          </a:prstGeom>
          <a:noFill/>
          <a:ln/>
        </p:spPr>
        <p:txBody>
          <a:bodyPr wrap="square" rtlCol="0" anchor="ctr"/>
          <a:lstStyle/>
          <a:p>
            <a:r>
              <a:rPr lang="en-US" sz="1600" dirty="0">
                <a:solidFill>
                  <a:srgbClr val="2C3E50"/>
                </a:solidFill>
                <a:latin typeface="Arial" pitchFamily="34" charset="0"/>
                <a:ea typeface="Arial" pitchFamily="34" charset="-122"/>
                <a:cs typeface="Arial" pitchFamily="34" charset="-120"/>
              </a:rPr>
              <a:t>Comorbidity Score</a:t>
            </a:r>
            <a:endParaRPr lang="en-US" sz="1600" dirty="0"/>
          </a:p>
        </p:txBody>
      </p:sp>
      <p:sp>
        <p:nvSpPr>
          <p:cNvPr id="14" name="Shape 12"/>
          <p:cNvSpPr/>
          <p:nvPr/>
        </p:nvSpPr>
        <p:spPr>
          <a:xfrm>
            <a:off x="4389120" y="4267200"/>
            <a:ext cx="3808781" cy="243840"/>
          </a:xfrm>
          <a:prstGeom prst="rect">
            <a:avLst/>
          </a:prstGeom>
          <a:solidFill>
            <a:srgbClr val="0066CC"/>
          </a:solidFill>
          <a:ln/>
        </p:spPr>
        <p:txBody>
          <a:bodyPr/>
          <a:lstStyle/>
          <a:p>
            <a:endParaRPr lang="en-US" sz="2400"/>
          </a:p>
        </p:txBody>
      </p:sp>
      <p:sp>
        <p:nvSpPr>
          <p:cNvPr id="15" name="Text 13"/>
          <p:cNvSpPr/>
          <p:nvPr/>
        </p:nvSpPr>
        <p:spPr>
          <a:xfrm>
            <a:off x="11055391" y="4141347"/>
            <a:ext cx="770849" cy="430653"/>
          </a:xfrm>
          <a:prstGeom prst="rect">
            <a:avLst/>
          </a:prstGeom>
          <a:noFill/>
          <a:ln/>
        </p:spPr>
        <p:txBody>
          <a:bodyPr wrap="square" rtlCol="0" anchor="ctr"/>
          <a:lstStyle/>
          <a:p>
            <a:pPr algn="r"/>
            <a:r>
              <a:rPr lang="en-US" sz="1600" b="1" dirty="0">
                <a:solidFill>
                  <a:srgbClr val="1F4E78"/>
                </a:solidFill>
                <a:latin typeface="Arial" pitchFamily="34" charset="0"/>
                <a:ea typeface="Arial" pitchFamily="34" charset="-122"/>
                <a:cs typeface="Arial" pitchFamily="34" charset="-120"/>
              </a:rPr>
              <a:t>14.2%</a:t>
            </a:r>
            <a:endParaRPr lang="en-US" sz="1600" dirty="0"/>
          </a:p>
        </p:txBody>
      </p:sp>
      <p:sp>
        <p:nvSpPr>
          <p:cNvPr id="16" name="Text 14"/>
          <p:cNvSpPr/>
          <p:nvPr/>
        </p:nvSpPr>
        <p:spPr>
          <a:xfrm>
            <a:off x="853440" y="4998720"/>
            <a:ext cx="3413760" cy="365760"/>
          </a:xfrm>
          <a:prstGeom prst="rect">
            <a:avLst/>
          </a:prstGeom>
          <a:noFill/>
          <a:ln/>
        </p:spPr>
        <p:txBody>
          <a:bodyPr wrap="square" rtlCol="0" anchor="ctr"/>
          <a:lstStyle/>
          <a:p>
            <a:r>
              <a:rPr lang="en-US" sz="1600" dirty="0">
                <a:solidFill>
                  <a:srgbClr val="2C3E50"/>
                </a:solidFill>
                <a:latin typeface="Arial" pitchFamily="34" charset="0"/>
                <a:ea typeface="Arial" pitchFamily="34" charset="-122"/>
                <a:cs typeface="Arial" pitchFamily="34" charset="-120"/>
              </a:rPr>
              <a:t>Heart Disease Status</a:t>
            </a:r>
            <a:endParaRPr lang="en-US" sz="1600" dirty="0"/>
          </a:p>
        </p:txBody>
      </p:sp>
      <p:sp>
        <p:nvSpPr>
          <p:cNvPr id="17" name="Shape 15"/>
          <p:cNvSpPr/>
          <p:nvPr/>
        </p:nvSpPr>
        <p:spPr>
          <a:xfrm>
            <a:off x="4389120" y="5059680"/>
            <a:ext cx="3165043" cy="243840"/>
          </a:xfrm>
          <a:prstGeom prst="rect">
            <a:avLst/>
          </a:prstGeom>
          <a:solidFill>
            <a:srgbClr val="0066CC"/>
          </a:solidFill>
          <a:ln/>
        </p:spPr>
        <p:txBody>
          <a:bodyPr/>
          <a:lstStyle/>
          <a:p>
            <a:endParaRPr lang="en-US" sz="2400"/>
          </a:p>
        </p:txBody>
      </p:sp>
      <p:sp>
        <p:nvSpPr>
          <p:cNvPr id="18" name="Text 16"/>
          <p:cNvSpPr/>
          <p:nvPr/>
        </p:nvSpPr>
        <p:spPr>
          <a:xfrm>
            <a:off x="11055391" y="4933827"/>
            <a:ext cx="770849" cy="430653"/>
          </a:xfrm>
          <a:prstGeom prst="rect">
            <a:avLst/>
          </a:prstGeom>
          <a:noFill/>
          <a:ln/>
        </p:spPr>
        <p:txBody>
          <a:bodyPr wrap="square" rtlCol="0" anchor="ctr"/>
          <a:lstStyle/>
          <a:p>
            <a:pPr algn="r"/>
            <a:r>
              <a:rPr lang="en-US" sz="1600" b="1" dirty="0">
                <a:solidFill>
                  <a:srgbClr val="1F4E78"/>
                </a:solidFill>
                <a:latin typeface="Arial" pitchFamily="34" charset="0"/>
                <a:ea typeface="Arial" pitchFamily="34" charset="-122"/>
                <a:cs typeface="Arial" pitchFamily="34" charset="-120"/>
              </a:rPr>
              <a:t>11.8%</a:t>
            </a:r>
            <a:endParaRPr lang="en-US" sz="1600" dirty="0"/>
          </a:p>
        </p:txBody>
      </p:sp>
      <p:sp>
        <p:nvSpPr>
          <p:cNvPr id="19" name="Text 17"/>
          <p:cNvSpPr/>
          <p:nvPr/>
        </p:nvSpPr>
        <p:spPr>
          <a:xfrm>
            <a:off x="609600" y="5486400"/>
            <a:ext cx="11582400" cy="820010"/>
          </a:xfrm>
          <a:prstGeom prst="rect">
            <a:avLst/>
          </a:prstGeom>
          <a:noFill/>
          <a:ln/>
        </p:spPr>
        <p:txBody>
          <a:bodyPr wrap="square" rtlCol="0" anchor="ctr"/>
          <a:lstStyle/>
          <a:p>
            <a:r>
              <a:rPr lang="en-US" sz="1467" i="1" dirty="0">
                <a:solidFill>
                  <a:srgbClr val="2C3E50"/>
                </a:solidFill>
                <a:latin typeface="Arial" pitchFamily="34" charset="0"/>
                <a:ea typeface="Arial" pitchFamily="34" charset="-122"/>
                <a:cs typeface="Arial" pitchFamily="34" charset="-120"/>
              </a:rPr>
              <a:t>Clinical Insight: Discharge planning should be tailored to medication regimen,</a:t>
            </a:r>
            <a:r>
              <a:rPr lang="en-US" sz="1467" dirty="0"/>
              <a:t> </a:t>
            </a:r>
            <a:r>
              <a:rPr lang="en-US" sz="1467" i="1" dirty="0">
                <a:solidFill>
                  <a:srgbClr val="2C3E50"/>
                </a:solidFill>
                <a:latin typeface="Arial" pitchFamily="34" charset="0"/>
                <a:ea typeface="Arial" pitchFamily="34" charset="-122"/>
                <a:cs typeface="Arial" pitchFamily="34" charset="-120"/>
              </a:rPr>
              <a:t>age, and comorbidity burden</a:t>
            </a:r>
            <a:endParaRPr lang="en-US" sz="146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609600"/>
          </a:xfrm>
          <a:prstGeom prst="rect">
            <a:avLst/>
          </a:prstGeom>
          <a:noFill/>
          <a:ln/>
        </p:spPr>
        <p:txBody>
          <a:bodyPr wrap="square" rtlCol="0" anchor="ctr"/>
          <a:lstStyle/>
          <a:p>
            <a:r>
              <a:rPr lang="en-US" sz="4267" b="1" dirty="0">
                <a:solidFill>
                  <a:srgbClr val="1F4E78"/>
                </a:solidFill>
                <a:latin typeface="Arial" pitchFamily="34" charset="0"/>
                <a:ea typeface="Arial" pitchFamily="34" charset="-122"/>
                <a:cs typeface="Arial" pitchFamily="34" charset="-120"/>
              </a:rPr>
              <a:t>Clinical Decision Support Applications</a:t>
            </a:r>
            <a:endParaRPr lang="en-US" sz="4267" dirty="0"/>
          </a:p>
        </p:txBody>
      </p:sp>
      <p:sp>
        <p:nvSpPr>
          <p:cNvPr id="3" name="Shape 1"/>
          <p:cNvSpPr/>
          <p:nvPr/>
        </p:nvSpPr>
        <p:spPr>
          <a:xfrm>
            <a:off x="609600" y="1158240"/>
            <a:ext cx="10972800" cy="48768"/>
          </a:xfrm>
          <a:prstGeom prst="rect">
            <a:avLst/>
          </a:prstGeom>
          <a:solidFill>
            <a:srgbClr val="0066CC"/>
          </a:solidFill>
          <a:ln/>
        </p:spPr>
        <p:txBody>
          <a:bodyPr/>
          <a:lstStyle/>
          <a:p>
            <a:endParaRPr lang="en-US" sz="2400"/>
          </a:p>
        </p:txBody>
      </p:sp>
      <p:sp>
        <p:nvSpPr>
          <p:cNvPr id="4" name="Text 2"/>
          <p:cNvSpPr/>
          <p:nvPr/>
        </p:nvSpPr>
        <p:spPr>
          <a:xfrm>
            <a:off x="853440" y="1828800"/>
            <a:ext cx="10728960" cy="365760"/>
          </a:xfrm>
          <a:prstGeom prst="rect">
            <a:avLst/>
          </a:prstGeom>
          <a:noFill/>
          <a:ln/>
        </p:spPr>
        <p:txBody>
          <a:bodyPr wrap="square" rtlCol="0" anchor="ctr"/>
          <a:lstStyle/>
          <a:p>
            <a:r>
              <a:rPr lang="en-US" sz="1733" b="1" dirty="0">
                <a:solidFill>
                  <a:srgbClr val="0066CC"/>
                </a:solidFill>
                <a:latin typeface="Arial" pitchFamily="34" charset="0"/>
                <a:ea typeface="Arial" pitchFamily="34" charset="-122"/>
                <a:cs typeface="Arial" pitchFamily="34" charset="-120"/>
              </a:rPr>
              <a:t>1. Prior Authorization Intelligence</a:t>
            </a:r>
            <a:endParaRPr lang="en-US" sz="1733" dirty="0"/>
          </a:p>
        </p:txBody>
      </p:sp>
      <p:sp>
        <p:nvSpPr>
          <p:cNvPr id="5" name="Text 3"/>
          <p:cNvSpPr/>
          <p:nvPr/>
        </p:nvSpPr>
        <p:spPr>
          <a:xfrm>
            <a:off x="1097280" y="2255520"/>
            <a:ext cx="10485120" cy="487680"/>
          </a:xfrm>
          <a:prstGeom prst="rect">
            <a:avLst/>
          </a:prstGeom>
          <a:noFill/>
          <a:ln/>
        </p:spPr>
        <p:txBody>
          <a:bodyPr wrap="square" rtlCol="0" anchor="ctr"/>
          <a:lstStyle/>
          <a:p>
            <a:r>
              <a:rPr lang="en-US" sz="1600" dirty="0">
                <a:solidFill>
                  <a:srgbClr val="2C3E50"/>
                </a:solidFill>
                <a:latin typeface="Arial" pitchFamily="34" charset="0"/>
                <a:ea typeface="Arial" pitchFamily="34" charset="-122"/>
                <a:cs typeface="Arial" pitchFamily="34" charset="-120"/>
              </a:rPr>
              <a:t>Embed readmission risk into PA workflows; approve high-risk cases for discharge planning</a:t>
            </a:r>
            <a:endParaRPr lang="en-US" sz="1600" dirty="0"/>
          </a:p>
        </p:txBody>
      </p:sp>
      <p:sp>
        <p:nvSpPr>
          <p:cNvPr id="6" name="Text 4"/>
          <p:cNvSpPr/>
          <p:nvPr/>
        </p:nvSpPr>
        <p:spPr>
          <a:xfrm>
            <a:off x="853440" y="3169920"/>
            <a:ext cx="10728960" cy="365760"/>
          </a:xfrm>
          <a:prstGeom prst="rect">
            <a:avLst/>
          </a:prstGeom>
          <a:noFill/>
          <a:ln/>
        </p:spPr>
        <p:txBody>
          <a:bodyPr wrap="square" rtlCol="0" anchor="ctr"/>
          <a:lstStyle/>
          <a:p>
            <a:r>
              <a:rPr lang="en-US" sz="1733" b="1" dirty="0">
                <a:solidFill>
                  <a:srgbClr val="0066CC"/>
                </a:solidFill>
                <a:latin typeface="Arial" pitchFamily="34" charset="0"/>
                <a:ea typeface="Arial" pitchFamily="34" charset="-122"/>
                <a:cs typeface="Arial" pitchFamily="34" charset="-120"/>
              </a:rPr>
              <a:t>2. Real-Time Claim Anomaly Detection</a:t>
            </a:r>
            <a:endParaRPr lang="en-US" sz="1733" dirty="0"/>
          </a:p>
        </p:txBody>
      </p:sp>
      <p:sp>
        <p:nvSpPr>
          <p:cNvPr id="7" name="Text 5"/>
          <p:cNvSpPr/>
          <p:nvPr/>
        </p:nvSpPr>
        <p:spPr>
          <a:xfrm>
            <a:off x="1097280" y="3596640"/>
            <a:ext cx="10485120" cy="487680"/>
          </a:xfrm>
          <a:prstGeom prst="rect">
            <a:avLst/>
          </a:prstGeom>
          <a:noFill/>
          <a:ln/>
        </p:spPr>
        <p:txBody>
          <a:bodyPr wrap="square" rtlCol="0" anchor="ctr"/>
          <a:lstStyle/>
          <a:p>
            <a:r>
              <a:rPr lang="en-US" sz="1600" dirty="0">
                <a:solidFill>
                  <a:srgbClr val="2C3E50"/>
                </a:solidFill>
                <a:latin typeface="Arial" pitchFamily="34" charset="0"/>
                <a:ea typeface="Arial" pitchFamily="34" charset="-122"/>
                <a:cs typeface="Arial" pitchFamily="34" charset="-120"/>
              </a:rPr>
              <a:t>Flag coding deviations at submission; reduce denials and accelerate clean claims</a:t>
            </a:r>
            <a:endParaRPr lang="en-US" sz="1600" dirty="0"/>
          </a:p>
        </p:txBody>
      </p:sp>
      <p:sp>
        <p:nvSpPr>
          <p:cNvPr id="8" name="Text 6"/>
          <p:cNvSpPr/>
          <p:nvPr/>
        </p:nvSpPr>
        <p:spPr>
          <a:xfrm>
            <a:off x="853440" y="4511040"/>
            <a:ext cx="10728960" cy="365760"/>
          </a:xfrm>
          <a:prstGeom prst="rect">
            <a:avLst/>
          </a:prstGeom>
          <a:noFill/>
          <a:ln/>
        </p:spPr>
        <p:txBody>
          <a:bodyPr wrap="square" rtlCol="0" anchor="ctr"/>
          <a:lstStyle/>
          <a:p>
            <a:r>
              <a:rPr lang="en-US" sz="1733" b="1" dirty="0">
                <a:solidFill>
                  <a:srgbClr val="0066CC"/>
                </a:solidFill>
                <a:latin typeface="Arial" pitchFamily="34" charset="0"/>
                <a:ea typeface="Arial" pitchFamily="34" charset="-122"/>
                <a:cs typeface="Arial" pitchFamily="34" charset="-120"/>
              </a:rPr>
              <a:t>3. Risk Stratification Pipeline</a:t>
            </a:r>
            <a:endParaRPr lang="en-US" sz="1733" dirty="0"/>
          </a:p>
        </p:txBody>
      </p:sp>
      <p:sp>
        <p:nvSpPr>
          <p:cNvPr id="9" name="Text 7"/>
          <p:cNvSpPr/>
          <p:nvPr/>
        </p:nvSpPr>
        <p:spPr>
          <a:xfrm>
            <a:off x="1097280" y="4937760"/>
            <a:ext cx="10485120" cy="487680"/>
          </a:xfrm>
          <a:prstGeom prst="rect">
            <a:avLst/>
          </a:prstGeom>
          <a:noFill/>
          <a:ln/>
        </p:spPr>
        <p:txBody>
          <a:bodyPr wrap="square" rtlCol="0" anchor="ctr"/>
          <a:lstStyle/>
          <a:p>
            <a:r>
              <a:rPr lang="en-US" sz="1600" dirty="0">
                <a:solidFill>
                  <a:srgbClr val="2C3E50"/>
                </a:solidFill>
                <a:latin typeface="Arial" pitchFamily="34" charset="0"/>
                <a:ea typeface="Arial" pitchFamily="34" charset="-122"/>
                <a:cs typeface="Arial" pitchFamily="34" charset="-120"/>
              </a:rPr>
              <a:t>Segment patients into intervention tiers; optimize resource allocation for outcomes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609600"/>
          </a:xfrm>
          <a:prstGeom prst="rect">
            <a:avLst/>
          </a:prstGeom>
          <a:noFill/>
          <a:ln/>
        </p:spPr>
        <p:txBody>
          <a:bodyPr wrap="square" rtlCol="0" anchor="ctr"/>
          <a:lstStyle/>
          <a:p>
            <a:r>
              <a:rPr lang="en-US" sz="4267" b="1" dirty="0">
                <a:solidFill>
                  <a:srgbClr val="1F4E78"/>
                </a:solidFill>
                <a:latin typeface="Arial" pitchFamily="34" charset="0"/>
                <a:ea typeface="Arial" pitchFamily="34" charset="-122"/>
                <a:cs typeface="Arial" pitchFamily="34" charset="-120"/>
              </a:rPr>
              <a:t>Clinical Case Stratification</a:t>
            </a:r>
            <a:endParaRPr lang="en-US" sz="4267" dirty="0"/>
          </a:p>
        </p:txBody>
      </p:sp>
      <p:sp>
        <p:nvSpPr>
          <p:cNvPr id="3" name="Shape 1"/>
          <p:cNvSpPr/>
          <p:nvPr/>
        </p:nvSpPr>
        <p:spPr>
          <a:xfrm>
            <a:off x="609600" y="1158240"/>
            <a:ext cx="10972800" cy="48768"/>
          </a:xfrm>
          <a:prstGeom prst="rect">
            <a:avLst/>
          </a:prstGeom>
          <a:solidFill>
            <a:srgbClr val="0066CC"/>
          </a:solidFill>
          <a:ln/>
        </p:spPr>
        <p:txBody>
          <a:bodyPr/>
          <a:lstStyle/>
          <a:p>
            <a:endParaRPr lang="en-US" sz="2400"/>
          </a:p>
        </p:txBody>
      </p:sp>
      <p:sp>
        <p:nvSpPr>
          <p:cNvPr id="4" name="Shape 2"/>
          <p:cNvSpPr/>
          <p:nvPr/>
        </p:nvSpPr>
        <p:spPr>
          <a:xfrm>
            <a:off x="609600" y="1828800"/>
            <a:ext cx="5242560" cy="3169920"/>
          </a:xfrm>
          <a:prstGeom prst="rect">
            <a:avLst/>
          </a:prstGeom>
          <a:solidFill>
            <a:schemeClr val="bg1"/>
          </a:solidFill>
          <a:ln w="25400">
            <a:solidFill>
              <a:srgbClr val="CC0000"/>
            </a:solidFill>
            <a:prstDash val="solid"/>
          </a:ln>
        </p:spPr>
        <p:txBody>
          <a:bodyPr/>
          <a:lstStyle/>
          <a:p>
            <a:endParaRPr lang="en-US" sz="2400"/>
          </a:p>
        </p:txBody>
      </p:sp>
      <p:sp>
        <p:nvSpPr>
          <p:cNvPr id="5" name="Text 3"/>
          <p:cNvSpPr/>
          <p:nvPr/>
        </p:nvSpPr>
        <p:spPr>
          <a:xfrm>
            <a:off x="853440" y="2011680"/>
            <a:ext cx="4754880" cy="304800"/>
          </a:xfrm>
          <a:prstGeom prst="rect">
            <a:avLst/>
          </a:prstGeom>
          <a:noFill/>
          <a:ln/>
        </p:spPr>
        <p:txBody>
          <a:bodyPr wrap="square" rtlCol="0" anchor="ctr"/>
          <a:lstStyle/>
          <a:p>
            <a:r>
              <a:rPr lang="en-US" sz="1600" b="1" dirty="0">
                <a:solidFill>
                  <a:srgbClr val="CC0000"/>
                </a:solidFill>
                <a:latin typeface="Arial" pitchFamily="34" charset="0"/>
                <a:ea typeface="Arial" pitchFamily="34" charset="-122"/>
                <a:cs typeface="Arial" pitchFamily="34" charset="-120"/>
              </a:rPr>
              <a:t>HIGH RISK</a:t>
            </a:r>
            <a:endParaRPr lang="en-US" sz="1600" dirty="0"/>
          </a:p>
        </p:txBody>
      </p:sp>
      <p:sp>
        <p:nvSpPr>
          <p:cNvPr id="6" name="Text 4"/>
          <p:cNvSpPr/>
          <p:nvPr/>
        </p:nvSpPr>
        <p:spPr>
          <a:xfrm>
            <a:off x="853440" y="2438400"/>
            <a:ext cx="4754880" cy="2438400"/>
          </a:xfrm>
          <a:prstGeom prst="rect">
            <a:avLst/>
          </a:prstGeom>
          <a:noFill/>
          <a:ln/>
        </p:spPr>
        <p:txBody>
          <a:bodyPr wrap="square" rtlCol="0" anchor="ctr"/>
          <a:lstStyle/>
          <a:p>
            <a:r>
              <a:rPr lang="en-US" sz="1467" dirty="0">
                <a:solidFill>
                  <a:srgbClr val="2C3E50"/>
                </a:solidFill>
                <a:latin typeface="Arial" pitchFamily="34" charset="0"/>
                <a:ea typeface="Arial" pitchFamily="34" charset="-122"/>
                <a:cs typeface="Arial" pitchFamily="34" charset="-120"/>
              </a:rPr>
              <a:t>Patient: 72-year-old</a:t>
            </a:r>
            <a:endParaRPr lang="en-US" sz="1467" dirty="0"/>
          </a:p>
          <a:p>
            <a:r>
              <a:rPr lang="en-US" sz="1467" dirty="0">
                <a:solidFill>
                  <a:srgbClr val="2C3E50"/>
                </a:solidFill>
                <a:latin typeface="Arial" pitchFamily="34" charset="0"/>
                <a:ea typeface="Arial" pitchFamily="34" charset="-122"/>
                <a:cs typeface="Arial" pitchFamily="34" charset="-120"/>
              </a:rPr>
              <a:t>Diagnoses: 7</a:t>
            </a:r>
            <a:endParaRPr lang="en-US" sz="1467" dirty="0"/>
          </a:p>
          <a:p>
            <a:r>
              <a:rPr lang="en-US" sz="1467" dirty="0">
                <a:solidFill>
                  <a:srgbClr val="2C3E50"/>
                </a:solidFill>
                <a:latin typeface="Arial" pitchFamily="34" charset="0"/>
                <a:ea typeface="Arial" pitchFamily="34" charset="-122"/>
                <a:cs typeface="Arial" pitchFamily="34" charset="-120"/>
              </a:rPr>
              <a:t>Medications: 11</a:t>
            </a:r>
            <a:endParaRPr lang="en-US" sz="1467" dirty="0"/>
          </a:p>
          <a:p>
            <a:r>
              <a:rPr lang="en-US" sz="1467" dirty="0">
                <a:solidFill>
                  <a:srgbClr val="2C3E50"/>
                </a:solidFill>
                <a:latin typeface="Arial" pitchFamily="34" charset="0"/>
                <a:ea typeface="Arial" pitchFamily="34" charset="-122"/>
                <a:cs typeface="Arial" pitchFamily="34" charset="-120"/>
              </a:rPr>
              <a:t>History: Cardiac</a:t>
            </a:r>
            <a:endParaRPr lang="en-US" sz="1467" dirty="0"/>
          </a:p>
          <a:p>
            <a:endParaRPr lang="en-US" sz="1467" dirty="0"/>
          </a:p>
          <a:p>
            <a:r>
              <a:rPr lang="en-US" sz="1467" dirty="0">
                <a:solidFill>
                  <a:srgbClr val="2C3E50"/>
                </a:solidFill>
                <a:latin typeface="Arial" pitchFamily="34" charset="0"/>
                <a:ea typeface="Arial" pitchFamily="34" charset="-122"/>
                <a:cs typeface="Arial" pitchFamily="34" charset="-120"/>
              </a:rPr>
              <a:t>Predicted Risk: 100%</a:t>
            </a:r>
            <a:endParaRPr lang="en-US" sz="1467" dirty="0"/>
          </a:p>
          <a:p>
            <a:endParaRPr lang="en-US" sz="1467" dirty="0"/>
          </a:p>
          <a:p>
            <a:r>
              <a:rPr lang="en-US" sz="1467" dirty="0">
                <a:solidFill>
                  <a:srgbClr val="2C3E50"/>
                </a:solidFill>
                <a:latin typeface="Arial" pitchFamily="34" charset="0"/>
                <a:ea typeface="Arial" pitchFamily="34" charset="-122"/>
                <a:cs typeface="Arial" pitchFamily="34" charset="-120"/>
              </a:rPr>
              <a:t>Action:</a:t>
            </a:r>
            <a:endParaRPr lang="en-US" sz="1467" dirty="0"/>
          </a:p>
          <a:p>
            <a:r>
              <a:rPr lang="en-US" sz="1467" dirty="0">
                <a:solidFill>
                  <a:srgbClr val="2C3E50"/>
                </a:solidFill>
                <a:latin typeface="Arial" pitchFamily="34" charset="0"/>
                <a:ea typeface="Arial" pitchFamily="34" charset="-122"/>
                <a:cs typeface="Arial" pitchFamily="34" charset="-120"/>
              </a:rPr>
              <a:t>Approve discharge planning</a:t>
            </a:r>
            <a:endParaRPr lang="en-US" sz="1467" dirty="0"/>
          </a:p>
          <a:p>
            <a:r>
              <a:rPr lang="en-US" sz="1467" dirty="0">
                <a:solidFill>
                  <a:srgbClr val="2C3E50"/>
                </a:solidFill>
                <a:latin typeface="Arial" pitchFamily="34" charset="0"/>
                <a:ea typeface="Arial" pitchFamily="34" charset="-122"/>
                <a:cs typeface="Arial" pitchFamily="34" charset="-120"/>
              </a:rPr>
              <a:t>Home health services</a:t>
            </a:r>
            <a:endParaRPr lang="en-US" sz="1467" dirty="0"/>
          </a:p>
          <a:p>
            <a:r>
              <a:rPr lang="en-US" sz="1467" dirty="0">
                <a:solidFill>
                  <a:srgbClr val="2C3E50"/>
                </a:solidFill>
                <a:latin typeface="Arial" pitchFamily="34" charset="0"/>
                <a:ea typeface="Arial" pitchFamily="34" charset="-122"/>
                <a:cs typeface="Arial" pitchFamily="34" charset="-120"/>
              </a:rPr>
              <a:t>Frequent follow-up</a:t>
            </a:r>
            <a:endParaRPr lang="en-US" sz="1467" dirty="0"/>
          </a:p>
        </p:txBody>
      </p:sp>
      <p:sp>
        <p:nvSpPr>
          <p:cNvPr id="7" name="Shape 5"/>
          <p:cNvSpPr/>
          <p:nvPr/>
        </p:nvSpPr>
        <p:spPr>
          <a:xfrm>
            <a:off x="6339840" y="1828800"/>
            <a:ext cx="5242560" cy="3169920"/>
          </a:xfrm>
          <a:prstGeom prst="rect">
            <a:avLst/>
          </a:prstGeom>
          <a:solidFill>
            <a:schemeClr val="bg1"/>
          </a:solidFill>
          <a:ln w="25400">
            <a:solidFill>
              <a:srgbClr val="00AA00"/>
            </a:solidFill>
            <a:prstDash val="solid"/>
          </a:ln>
        </p:spPr>
        <p:txBody>
          <a:bodyPr/>
          <a:lstStyle/>
          <a:p>
            <a:endParaRPr lang="en-US" sz="2400"/>
          </a:p>
        </p:txBody>
      </p:sp>
      <p:sp>
        <p:nvSpPr>
          <p:cNvPr id="8" name="Text 6"/>
          <p:cNvSpPr/>
          <p:nvPr/>
        </p:nvSpPr>
        <p:spPr>
          <a:xfrm>
            <a:off x="6583680" y="2011680"/>
            <a:ext cx="4754880" cy="304800"/>
          </a:xfrm>
          <a:prstGeom prst="rect">
            <a:avLst/>
          </a:prstGeom>
          <a:noFill/>
          <a:ln/>
        </p:spPr>
        <p:txBody>
          <a:bodyPr wrap="square" rtlCol="0" anchor="ctr"/>
          <a:lstStyle/>
          <a:p>
            <a:r>
              <a:rPr lang="en-US" sz="1600" b="1" dirty="0">
                <a:solidFill>
                  <a:srgbClr val="00AA00"/>
                </a:solidFill>
                <a:latin typeface="Arial" pitchFamily="34" charset="0"/>
                <a:ea typeface="Arial" pitchFamily="34" charset="-122"/>
                <a:cs typeface="Arial" pitchFamily="34" charset="-120"/>
              </a:rPr>
              <a:t>LOW RISK</a:t>
            </a:r>
            <a:endParaRPr lang="en-US" sz="1600" dirty="0"/>
          </a:p>
        </p:txBody>
      </p:sp>
      <p:sp>
        <p:nvSpPr>
          <p:cNvPr id="9" name="Text 7"/>
          <p:cNvSpPr/>
          <p:nvPr/>
        </p:nvSpPr>
        <p:spPr>
          <a:xfrm>
            <a:off x="6583680" y="2438400"/>
            <a:ext cx="4754880" cy="2438400"/>
          </a:xfrm>
          <a:prstGeom prst="rect">
            <a:avLst/>
          </a:prstGeom>
          <a:noFill/>
          <a:ln/>
        </p:spPr>
        <p:txBody>
          <a:bodyPr wrap="square" rtlCol="0" anchor="ctr"/>
          <a:lstStyle/>
          <a:p>
            <a:r>
              <a:rPr lang="en-US" sz="1467" dirty="0">
                <a:solidFill>
                  <a:srgbClr val="2C3E50"/>
                </a:solidFill>
                <a:latin typeface="Arial" pitchFamily="34" charset="0"/>
                <a:ea typeface="Arial" pitchFamily="34" charset="-122"/>
                <a:cs typeface="Arial" pitchFamily="34" charset="-120"/>
              </a:rPr>
              <a:t>Patient: 35-year-old</a:t>
            </a:r>
            <a:endParaRPr lang="en-US" sz="1467" dirty="0"/>
          </a:p>
          <a:p>
            <a:r>
              <a:rPr lang="en-US" sz="1467" dirty="0">
                <a:solidFill>
                  <a:srgbClr val="2C3E50"/>
                </a:solidFill>
                <a:latin typeface="Arial" pitchFamily="34" charset="0"/>
                <a:ea typeface="Arial" pitchFamily="34" charset="-122"/>
                <a:cs typeface="Arial" pitchFamily="34" charset="-120"/>
              </a:rPr>
              <a:t>Diagnoses: 1</a:t>
            </a:r>
            <a:endParaRPr lang="en-US" sz="1467" dirty="0"/>
          </a:p>
          <a:p>
            <a:r>
              <a:rPr lang="en-US" sz="1467" dirty="0">
                <a:solidFill>
                  <a:srgbClr val="2C3E50"/>
                </a:solidFill>
                <a:latin typeface="Arial" pitchFamily="34" charset="0"/>
                <a:ea typeface="Arial" pitchFamily="34" charset="-122"/>
                <a:cs typeface="Arial" pitchFamily="34" charset="-120"/>
              </a:rPr>
              <a:t>Medications: 2</a:t>
            </a:r>
            <a:endParaRPr lang="en-US" sz="1467" dirty="0"/>
          </a:p>
          <a:p>
            <a:r>
              <a:rPr lang="en-US" sz="1467" dirty="0">
                <a:solidFill>
                  <a:srgbClr val="2C3E50"/>
                </a:solidFill>
                <a:latin typeface="Arial" pitchFamily="34" charset="0"/>
                <a:ea typeface="Arial" pitchFamily="34" charset="-122"/>
                <a:cs typeface="Arial" pitchFamily="34" charset="-120"/>
              </a:rPr>
              <a:t>No comorbidities</a:t>
            </a:r>
            <a:endParaRPr lang="en-US" sz="1467" dirty="0"/>
          </a:p>
          <a:p>
            <a:endParaRPr lang="en-US" sz="1467" dirty="0"/>
          </a:p>
          <a:p>
            <a:r>
              <a:rPr lang="en-US" sz="1467" dirty="0">
                <a:solidFill>
                  <a:srgbClr val="2C3E50"/>
                </a:solidFill>
                <a:latin typeface="Arial" pitchFamily="34" charset="0"/>
                <a:ea typeface="Arial" pitchFamily="34" charset="-122"/>
                <a:cs typeface="Arial" pitchFamily="34" charset="-120"/>
              </a:rPr>
              <a:t>Predicted Risk: 5%</a:t>
            </a:r>
            <a:endParaRPr lang="en-US" sz="1467" dirty="0"/>
          </a:p>
          <a:p>
            <a:endParaRPr lang="en-US" sz="1467" dirty="0"/>
          </a:p>
          <a:p>
            <a:r>
              <a:rPr lang="en-US" sz="1467" dirty="0">
                <a:solidFill>
                  <a:srgbClr val="2C3E50"/>
                </a:solidFill>
                <a:latin typeface="Arial" pitchFamily="34" charset="0"/>
                <a:ea typeface="Arial" pitchFamily="34" charset="-122"/>
                <a:cs typeface="Arial" pitchFamily="34" charset="-120"/>
              </a:rPr>
              <a:t>Action:</a:t>
            </a:r>
            <a:endParaRPr lang="en-US" sz="1467" dirty="0"/>
          </a:p>
          <a:p>
            <a:r>
              <a:rPr lang="en-US" sz="1467" dirty="0">
                <a:solidFill>
                  <a:srgbClr val="2C3E50"/>
                </a:solidFill>
                <a:latin typeface="Arial" pitchFamily="34" charset="0"/>
                <a:ea typeface="Arial" pitchFamily="34" charset="-122"/>
                <a:cs typeface="Arial" pitchFamily="34" charset="-120"/>
              </a:rPr>
              <a:t>Standard discharge</a:t>
            </a:r>
            <a:endParaRPr lang="en-US" sz="1467" dirty="0"/>
          </a:p>
          <a:p>
            <a:r>
              <a:rPr lang="en-US" sz="1467" dirty="0">
                <a:solidFill>
                  <a:srgbClr val="2C3E50"/>
                </a:solidFill>
                <a:latin typeface="Arial" pitchFamily="34" charset="0"/>
                <a:ea typeface="Arial" pitchFamily="34" charset="-122"/>
                <a:cs typeface="Arial" pitchFamily="34" charset="-120"/>
              </a:rPr>
              <a:t>Routine follow-up</a:t>
            </a:r>
            <a:endParaRPr lang="en-US" sz="1467" dirty="0"/>
          </a:p>
          <a:p>
            <a:r>
              <a:rPr lang="en-US" sz="1467" dirty="0">
                <a:solidFill>
                  <a:srgbClr val="2C3E50"/>
                </a:solidFill>
                <a:latin typeface="Arial" pitchFamily="34" charset="0"/>
                <a:ea typeface="Arial" pitchFamily="34" charset="-122"/>
                <a:cs typeface="Arial" pitchFamily="34" charset="-120"/>
              </a:rPr>
              <a:t>Minimal intervention</a:t>
            </a:r>
            <a:endParaRPr lang="en-US" sz="146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87680"/>
            <a:ext cx="10972800" cy="609600"/>
          </a:xfrm>
          <a:prstGeom prst="rect">
            <a:avLst/>
          </a:prstGeom>
          <a:noFill/>
          <a:ln/>
        </p:spPr>
        <p:txBody>
          <a:bodyPr wrap="square" rtlCol="0" anchor="ctr"/>
          <a:lstStyle/>
          <a:p>
            <a:r>
              <a:rPr lang="en-US" sz="4267" b="1" dirty="0">
                <a:solidFill>
                  <a:srgbClr val="1F4E78"/>
                </a:solidFill>
                <a:latin typeface="Arial" pitchFamily="34" charset="0"/>
                <a:ea typeface="Arial" pitchFamily="34" charset="-122"/>
                <a:cs typeface="Arial" pitchFamily="34" charset="-120"/>
              </a:rPr>
              <a:t>Implementation Roadmap</a:t>
            </a:r>
            <a:endParaRPr lang="en-US" sz="4267" dirty="0"/>
          </a:p>
        </p:txBody>
      </p:sp>
      <p:sp>
        <p:nvSpPr>
          <p:cNvPr id="3" name="Shape 1"/>
          <p:cNvSpPr/>
          <p:nvPr/>
        </p:nvSpPr>
        <p:spPr>
          <a:xfrm>
            <a:off x="609600" y="1158240"/>
            <a:ext cx="10972800" cy="48768"/>
          </a:xfrm>
          <a:prstGeom prst="rect">
            <a:avLst/>
          </a:prstGeom>
          <a:solidFill>
            <a:srgbClr val="0066CC"/>
          </a:solidFill>
          <a:ln/>
        </p:spPr>
        <p:txBody>
          <a:bodyPr/>
          <a:lstStyle/>
          <a:p>
            <a:endParaRPr lang="en-US" sz="2400"/>
          </a:p>
        </p:txBody>
      </p:sp>
      <p:sp>
        <p:nvSpPr>
          <p:cNvPr id="4" name="Shape 2"/>
          <p:cNvSpPr/>
          <p:nvPr/>
        </p:nvSpPr>
        <p:spPr>
          <a:xfrm>
            <a:off x="731520" y="1950720"/>
            <a:ext cx="3413760" cy="3413760"/>
          </a:xfrm>
          <a:prstGeom prst="rect">
            <a:avLst/>
          </a:prstGeom>
          <a:solidFill>
            <a:srgbClr val="FFFFFF"/>
          </a:solidFill>
          <a:ln w="12700">
            <a:solidFill>
              <a:srgbClr val="0066CC"/>
            </a:solidFill>
            <a:prstDash val="solid"/>
          </a:ln>
        </p:spPr>
        <p:txBody>
          <a:bodyPr/>
          <a:lstStyle/>
          <a:p>
            <a:endParaRPr lang="en-US" sz="2400"/>
          </a:p>
        </p:txBody>
      </p:sp>
      <p:sp>
        <p:nvSpPr>
          <p:cNvPr id="5" name="Text 3"/>
          <p:cNvSpPr/>
          <p:nvPr/>
        </p:nvSpPr>
        <p:spPr>
          <a:xfrm>
            <a:off x="383458" y="2137533"/>
            <a:ext cx="3413760" cy="609600"/>
          </a:xfrm>
          <a:prstGeom prst="rect">
            <a:avLst/>
          </a:prstGeom>
          <a:noFill/>
          <a:ln/>
        </p:spPr>
        <p:txBody>
          <a:bodyPr wrap="square" rtlCol="0" anchor="ctr"/>
          <a:lstStyle/>
          <a:p>
            <a:pPr algn="ctr"/>
            <a:r>
              <a:rPr lang="en-US" sz="1600" b="1" dirty="0">
                <a:solidFill>
                  <a:srgbClr val="0066CC"/>
                </a:solidFill>
                <a:latin typeface="Arial" pitchFamily="34" charset="0"/>
                <a:ea typeface="Arial" pitchFamily="34" charset="-122"/>
                <a:cs typeface="Arial" pitchFamily="34" charset="-120"/>
              </a:rPr>
              <a:t>Phase 1</a:t>
            </a:r>
            <a:endParaRPr lang="en-US" sz="1600" dirty="0"/>
          </a:p>
          <a:p>
            <a:pPr algn="ctr"/>
            <a:r>
              <a:rPr lang="en-US" sz="1600" b="1" dirty="0">
                <a:solidFill>
                  <a:srgbClr val="0066CC"/>
                </a:solidFill>
                <a:latin typeface="Arial" pitchFamily="34" charset="0"/>
                <a:ea typeface="Arial" pitchFamily="34" charset="-122"/>
                <a:cs typeface="Arial" pitchFamily="34" charset="-120"/>
              </a:rPr>
              <a:t>(Month 1)</a:t>
            </a:r>
            <a:endParaRPr lang="en-US" sz="1600" dirty="0"/>
          </a:p>
        </p:txBody>
      </p:sp>
      <p:sp>
        <p:nvSpPr>
          <p:cNvPr id="6" name="Text 4"/>
          <p:cNvSpPr/>
          <p:nvPr/>
        </p:nvSpPr>
        <p:spPr>
          <a:xfrm>
            <a:off x="975360" y="2865120"/>
            <a:ext cx="2926080" cy="487680"/>
          </a:xfrm>
          <a:prstGeom prst="rect">
            <a:avLst/>
          </a:prstGeom>
          <a:noFill/>
          <a:ln/>
        </p:spPr>
        <p:txBody>
          <a:bodyPr wrap="square" rtlCol="0" anchor="ctr"/>
          <a:lstStyle/>
          <a:p>
            <a:r>
              <a:rPr lang="en-US" sz="1333" dirty="0">
                <a:solidFill>
                  <a:srgbClr val="2C3E50"/>
                </a:solidFill>
                <a:latin typeface="Arial" pitchFamily="34" charset="0"/>
                <a:ea typeface="Arial" pitchFamily="34" charset="-122"/>
                <a:cs typeface="Arial" pitchFamily="34" charset="-120"/>
              </a:rPr>
              <a:t>• Pilot with EHR data</a:t>
            </a:r>
            <a:endParaRPr lang="en-US" sz="1333" dirty="0"/>
          </a:p>
        </p:txBody>
      </p:sp>
      <p:sp>
        <p:nvSpPr>
          <p:cNvPr id="7" name="Text 5"/>
          <p:cNvSpPr/>
          <p:nvPr/>
        </p:nvSpPr>
        <p:spPr>
          <a:xfrm>
            <a:off x="975360" y="3413760"/>
            <a:ext cx="2926080" cy="487680"/>
          </a:xfrm>
          <a:prstGeom prst="rect">
            <a:avLst/>
          </a:prstGeom>
          <a:noFill/>
          <a:ln/>
        </p:spPr>
        <p:txBody>
          <a:bodyPr wrap="square" rtlCol="0" anchor="ctr"/>
          <a:lstStyle/>
          <a:p>
            <a:r>
              <a:rPr lang="en-US" sz="1333" dirty="0">
                <a:solidFill>
                  <a:srgbClr val="2C3E50"/>
                </a:solidFill>
                <a:latin typeface="Arial" pitchFamily="34" charset="0"/>
                <a:ea typeface="Arial" pitchFamily="34" charset="-122"/>
                <a:cs typeface="Arial" pitchFamily="34" charset="-120"/>
              </a:rPr>
              <a:t>• Fairness audits</a:t>
            </a:r>
            <a:endParaRPr lang="en-US" sz="1333" dirty="0"/>
          </a:p>
        </p:txBody>
      </p:sp>
      <p:sp>
        <p:nvSpPr>
          <p:cNvPr id="8" name="Text 6"/>
          <p:cNvSpPr/>
          <p:nvPr/>
        </p:nvSpPr>
        <p:spPr>
          <a:xfrm>
            <a:off x="975360" y="3962400"/>
            <a:ext cx="2926080" cy="487680"/>
          </a:xfrm>
          <a:prstGeom prst="rect">
            <a:avLst/>
          </a:prstGeom>
          <a:noFill/>
          <a:ln/>
        </p:spPr>
        <p:txBody>
          <a:bodyPr wrap="square" rtlCol="0" anchor="ctr"/>
          <a:lstStyle/>
          <a:p>
            <a:r>
              <a:rPr lang="en-US" sz="1333" dirty="0">
                <a:solidFill>
                  <a:srgbClr val="2C3E50"/>
                </a:solidFill>
                <a:latin typeface="Arial" pitchFamily="34" charset="0"/>
                <a:ea typeface="Arial" pitchFamily="34" charset="-122"/>
                <a:cs typeface="Arial" pitchFamily="34" charset="-120"/>
              </a:rPr>
              <a:t>• Regulatory review</a:t>
            </a:r>
            <a:endParaRPr lang="en-US" sz="1333" dirty="0"/>
          </a:p>
        </p:txBody>
      </p:sp>
      <p:sp>
        <p:nvSpPr>
          <p:cNvPr id="9" name="Shape 7"/>
          <p:cNvSpPr/>
          <p:nvPr/>
        </p:nvSpPr>
        <p:spPr>
          <a:xfrm>
            <a:off x="4389120" y="1950720"/>
            <a:ext cx="3413760" cy="3413760"/>
          </a:xfrm>
          <a:prstGeom prst="rect">
            <a:avLst/>
          </a:prstGeom>
          <a:solidFill>
            <a:srgbClr val="FFFFFF"/>
          </a:solidFill>
          <a:ln w="12700">
            <a:solidFill>
              <a:srgbClr val="0066CC"/>
            </a:solidFill>
            <a:prstDash val="solid"/>
          </a:ln>
        </p:spPr>
        <p:txBody>
          <a:bodyPr/>
          <a:lstStyle/>
          <a:p>
            <a:endParaRPr lang="en-US" sz="2400"/>
          </a:p>
        </p:txBody>
      </p:sp>
      <p:sp>
        <p:nvSpPr>
          <p:cNvPr id="10" name="Text 8"/>
          <p:cNvSpPr/>
          <p:nvPr/>
        </p:nvSpPr>
        <p:spPr>
          <a:xfrm>
            <a:off x="4041058" y="2121408"/>
            <a:ext cx="3413760" cy="609600"/>
          </a:xfrm>
          <a:prstGeom prst="rect">
            <a:avLst/>
          </a:prstGeom>
          <a:noFill/>
          <a:ln/>
        </p:spPr>
        <p:txBody>
          <a:bodyPr wrap="square" rtlCol="0" anchor="ctr"/>
          <a:lstStyle/>
          <a:p>
            <a:pPr algn="ctr"/>
            <a:r>
              <a:rPr lang="en-US" sz="1600" b="1" dirty="0">
                <a:solidFill>
                  <a:srgbClr val="0066CC"/>
                </a:solidFill>
                <a:latin typeface="Arial" pitchFamily="34" charset="0"/>
                <a:ea typeface="Arial" pitchFamily="34" charset="-122"/>
                <a:cs typeface="Arial" pitchFamily="34" charset="-120"/>
              </a:rPr>
              <a:t>Phase 2</a:t>
            </a:r>
            <a:endParaRPr lang="en-US" sz="1600" dirty="0"/>
          </a:p>
          <a:p>
            <a:pPr algn="ctr"/>
            <a:r>
              <a:rPr lang="en-US" sz="1600" b="1" dirty="0">
                <a:solidFill>
                  <a:srgbClr val="0066CC"/>
                </a:solidFill>
                <a:latin typeface="Arial" pitchFamily="34" charset="0"/>
                <a:ea typeface="Arial" pitchFamily="34" charset="-122"/>
                <a:cs typeface="Arial" pitchFamily="34" charset="-120"/>
              </a:rPr>
              <a:t>(Month 2-3)</a:t>
            </a:r>
            <a:endParaRPr lang="en-US" sz="1600" dirty="0"/>
          </a:p>
        </p:txBody>
      </p:sp>
      <p:sp>
        <p:nvSpPr>
          <p:cNvPr id="11" name="Text 9"/>
          <p:cNvSpPr/>
          <p:nvPr/>
        </p:nvSpPr>
        <p:spPr>
          <a:xfrm>
            <a:off x="4632960" y="2865120"/>
            <a:ext cx="2926080" cy="487680"/>
          </a:xfrm>
          <a:prstGeom prst="rect">
            <a:avLst/>
          </a:prstGeom>
          <a:noFill/>
          <a:ln/>
        </p:spPr>
        <p:txBody>
          <a:bodyPr wrap="square" rtlCol="0" anchor="ctr"/>
          <a:lstStyle/>
          <a:p>
            <a:r>
              <a:rPr lang="en-US" sz="1333" dirty="0">
                <a:solidFill>
                  <a:srgbClr val="2C3E50"/>
                </a:solidFill>
                <a:latin typeface="Arial" pitchFamily="34" charset="0"/>
                <a:ea typeface="Arial" pitchFamily="34" charset="-122"/>
                <a:cs typeface="Arial" pitchFamily="34" charset="-120"/>
              </a:rPr>
              <a:t>• Integration with PA</a:t>
            </a:r>
            <a:endParaRPr lang="en-US" sz="1333" dirty="0"/>
          </a:p>
        </p:txBody>
      </p:sp>
      <p:sp>
        <p:nvSpPr>
          <p:cNvPr id="12" name="Text 10"/>
          <p:cNvSpPr/>
          <p:nvPr/>
        </p:nvSpPr>
        <p:spPr>
          <a:xfrm>
            <a:off x="4632960" y="3413760"/>
            <a:ext cx="2926080" cy="487680"/>
          </a:xfrm>
          <a:prstGeom prst="rect">
            <a:avLst/>
          </a:prstGeom>
          <a:noFill/>
          <a:ln/>
        </p:spPr>
        <p:txBody>
          <a:bodyPr wrap="square" rtlCol="0" anchor="ctr"/>
          <a:lstStyle/>
          <a:p>
            <a:r>
              <a:rPr lang="en-US" sz="1333" dirty="0">
                <a:solidFill>
                  <a:srgbClr val="2C3E50"/>
                </a:solidFill>
                <a:latin typeface="Arial" pitchFamily="34" charset="0"/>
                <a:ea typeface="Arial" pitchFamily="34" charset="-122"/>
                <a:cs typeface="Arial" pitchFamily="34" charset="-120"/>
              </a:rPr>
              <a:t>• Real-time scoring</a:t>
            </a:r>
            <a:endParaRPr lang="en-US" sz="1333" dirty="0"/>
          </a:p>
        </p:txBody>
      </p:sp>
      <p:sp>
        <p:nvSpPr>
          <p:cNvPr id="13" name="Text 11"/>
          <p:cNvSpPr/>
          <p:nvPr/>
        </p:nvSpPr>
        <p:spPr>
          <a:xfrm>
            <a:off x="4632960" y="3962400"/>
            <a:ext cx="2926080" cy="487680"/>
          </a:xfrm>
          <a:prstGeom prst="rect">
            <a:avLst/>
          </a:prstGeom>
          <a:noFill/>
          <a:ln/>
        </p:spPr>
        <p:txBody>
          <a:bodyPr wrap="square" rtlCol="0" anchor="ctr"/>
          <a:lstStyle/>
          <a:p>
            <a:r>
              <a:rPr lang="en-US" sz="1333" dirty="0">
                <a:solidFill>
                  <a:srgbClr val="2C3E50"/>
                </a:solidFill>
                <a:latin typeface="Arial" pitchFamily="34" charset="0"/>
                <a:ea typeface="Arial" pitchFamily="34" charset="-122"/>
                <a:cs typeface="Arial" pitchFamily="34" charset="-120"/>
              </a:rPr>
              <a:t>• Provider feedback loop</a:t>
            </a:r>
            <a:endParaRPr lang="en-US" sz="1333" dirty="0"/>
          </a:p>
        </p:txBody>
      </p:sp>
      <p:sp>
        <p:nvSpPr>
          <p:cNvPr id="14" name="Shape 12"/>
          <p:cNvSpPr/>
          <p:nvPr/>
        </p:nvSpPr>
        <p:spPr>
          <a:xfrm>
            <a:off x="8046720" y="1950720"/>
            <a:ext cx="3413760" cy="3413760"/>
          </a:xfrm>
          <a:prstGeom prst="rect">
            <a:avLst/>
          </a:prstGeom>
          <a:solidFill>
            <a:srgbClr val="FFFFFF"/>
          </a:solidFill>
          <a:ln w="12700">
            <a:solidFill>
              <a:srgbClr val="0066CC"/>
            </a:solidFill>
            <a:prstDash val="solid"/>
          </a:ln>
        </p:spPr>
        <p:txBody>
          <a:bodyPr/>
          <a:lstStyle/>
          <a:p>
            <a:endParaRPr lang="en-US" sz="2400"/>
          </a:p>
        </p:txBody>
      </p:sp>
      <p:sp>
        <p:nvSpPr>
          <p:cNvPr id="15" name="Text 13"/>
          <p:cNvSpPr/>
          <p:nvPr/>
        </p:nvSpPr>
        <p:spPr>
          <a:xfrm>
            <a:off x="7698658" y="2103120"/>
            <a:ext cx="3413760" cy="609600"/>
          </a:xfrm>
          <a:prstGeom prst="rect">
            <a:avLst/>
          </a:prstGeom>
          <a:noFill/>
          <a:ln/>
        </p:spPr>
        <p:txBody>
          <a:bodyPr wrap="square" rtlCol="0" anchor="ctr"/>
          <a:lstStyle/>
          <a:p>
            <a:pPr algn="ctr"/>
            <a:r>
              <a:rPr lang="en-US" sz="1600" b="1" dirty="0">
                <a:solidFill>
                  <a:srgbClr val="0066CC"/>
                </a:solidFill>
                <a:latin typeface="Arial" pitchFamily="34" charset="0"/>
                <a:ea typeface="Arial" pitchFamily="34" charset="-122"/>
                <a:cs typeface="Arial" pitchFamily="34" charset="-120"/>
              </a:rPr>
              <a:t>Phase 3</a:t>
            </a:r>
            <a:endParaRPr lang="en-US" sz="1600" dirty="0"/>
          </a:p>
          <a:p>
            <a:pPr algn="ctr"/>
            <a:r>
              <a:rPr lang="en-US" sz="1600" b="1" dirty="0">
                <a:solidFill>
                  <a:srgbClr val="0066CC"/>
                </a:solidFill>
                <a:latin typeface="Arial" pitchFamily="34" charset="0"/>
                <a:ea typeface="Arial" pitchFamily="34" charset="-122"/>
                <a:cs typeface="Arial" pitchFamily="34" charset="-120"/>
              </a:rPr>
              <a:t>(Month 4+)</a:t>
            </a:r>
            <a:endParaRPr lang="en-US" sz="1600" dirty="0"/>
          </a:p>
        </p:txBody>
      </p:sp>
      <p:sp>
        <p:nvSpPr>
          <p:cNvPr id="16" name="Text 14"/>
          <p:cNvSpPr/>
          <p:nvPr/>
        </p:nvSpPr>
        <p:spPr>
          <a:xfrm>
            <a:off x="8290560" y="2865120"/>
            <a:ext cx="2926080" cy="487680"/>
          </a:xfrm>
          <a:prstGeom prst="rect">
            <a:avLst/>
          </a:prstGeom>
          <a:noFill/>
          <a:ln/>
        </p:spPr>
        <p:txBody>
          <a:bodyPr wrap="square" rtlCol="0" anchor="ctr"/>
          <a:lstStyle/>
          <a:p>
            <a:r>
              <a:rPr lang="en-US" sz="1333" dirty="0">
                <a:solidFill>
                  <a:srgbClr val="2C3E50"/>
                </a:solidFill>
                <a:latin typeface="Arial" pitchFamily="34" charset="0"/>
                <a:ea typeface="Arial" pitchFamily="34" charset="-122"/>
                <a:cs typeface="Arial" pitchFamily="34" charset="-120"/>
              </a:rPr>
              <a:t>• Claims analytics</a:t>
            </a:r>
            <a:endParaRPr lang="en-US" sz="1333" dirty="0"/>
          </a:p>
        </p:txBody>
      </p:sp>
      <p:sp>
        <p:nvSpPr>
          <p:cNvPr id="17" name="Text 15"/>
          <p:cNvSpPr/>
          <p:nvPr/>
        </p:nvSpPr>
        <p:spPr>
          <a:xfrm>
            <a:off x="8290560" y="3413760"/>
            <a:ext cx="2926080" cy="487680"/>
          </a:xfrm>
          <a:prstGeom prst="rect">
            <a:avLst/>
          </a:prstGeom>
          <a:noFill/>
          <a:ln/>
        </p:spPr>
        <p:txBody>
          <a:bodyPr wrap="square" rtlCol="0" anchor="ctr"/>
          <a:lstStyle/>
          <a:p>
            <a:r>
              <a:rPr lang="en-US" sz="1333" dirty="0">
                <a:solidFill>
                  <a:srgbClr val="2C3E50"/>
                </a:solidFill>
                <a:latin typeface="Arial" pitchFamily="34" charset="0"/>
                <a:ea typeface="Arial" pitchFamily="34" charset="-122"/>
                <a:cs typeface="Arial" pitchFamily="34" charset="-120"/>
              </a:rPr>
              <a:t>• Scale to full population</a:t>
            </a:r>
            <a:endParaRPr lang="en-US" sz="1333" dirty="0"/>
          </a:p>
        </p:txBody>
      </p:sp>
      <p:sp>
        <p:nvSpPr>
          <p:cNvPr id="18" name="Text 16"/>
          <p:cNvSpPr/>
          <p:nvPr/>
        </p:nvSpPr>
        <p:spPr>
          <a:xfrm>
            <a:off x="8290560" y="3962400"/>
            <a:ext cx="2926080" cy="487680"/>
          </a:xfrm>
          <a:prstGeom prst="rect">
            <a:avLst/>
          </a:prstGeom>
          <a:noFill/>
          <a:ln/>
        </p:spPr>
        <p:txBody>
          <a:bodyPr wrap="square" rtlCol="0" anchor="ctr"/>
          <a:lstStyle/>
          <a:p>
            <a:r>
              <a:rPr lang="en-US" sz="1333" dirty="0">
                <a:solidFill>
                  <a:srgbClr val="2C3E50"/>
                </a:solidFill>
                <a:latin typeface="Arial" pitchFamily="34" charset="0"/>
                <a:ea typeface="Arial" pitchFamily="34" charset="-122"/>
                <a:cs typeface="Arial" pitchFamily="34" charset="-120"/>
              </a:rPr>
              <a:t>• Continuous monitoring</a:t>
            </a:r>
            <a:endParaRPr lang="en-US" sz="133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3A019-7A21-A325-88B5-2C23A2FDF5AF}"/>
              </a:ext>
            </a:extLst>
          </p:cNvPr>
          <p:cNvSpPr>
            <a:spLocks noGrp="1"/>
          </p:cNvSpPr>
          <p:nvPr>
            <p:ph type="title"/>
          </p:nvPr>
        </p:nvSpPr>
        <p:spPr>
          <a:xfrm>
            <a:off x="369849" y="-6582"/>
            <a:ext cx="10515600" cy="1325563"/>
          </a:xfrm>
        </p:spPr>
        <p:txBody>
          <a:bodyPr anchor="ctr">
            <a:normAutofit/>
          </a:bodyPr>
          <a:lstStyle/>
          <a:p>
            <a:r>
              <a:rPr lang="en-US" sz="4400" dirty="0">
                <a:latin typeface="Arial" panose="020B0604020202020204" pitchFamily="34" charset="0"/>
                <a:cs typeface="Arial" panose="020B0604020202020204" pitchFamily="34" charset="0"/>
              </a:rPr>
              <a:t>Results</a:t>
            </a:r>
          </a:p>
        </p:txBody>
      </p:sp>
      <p:pic>
        <p:nvPicPr>
          <p:cNvPr id="5" name="Content Placeholder 4">
            <a:extLst>
              <a:ext uri="{FF2B5EF4-FFF2-40B4-BE49-F238E27FC236}">
                <a16:creationId xmlns:a16="http://schemas.microsoft.com/office/drawing/2014/main" id="{13CBA9E9-E88B-2B50-DF3B-D9C0B16C63C2}"/>
              </a:ext>
            </a:extLst>
          </p:cNvPr>
          <p:cNvPicPr>
            <a:picLocks noGrp="1" noChangeAspect="1"/>
          </p:cNvPicPr>
          <p:nvPr>
            <p:ph sz="half" idx="1"/>
          </p:nvPr>
        </p:nvPicPr>
        <p:blipFill>
          <a:blip r:embed="rId3"/>
          <a:stretch>
            <a:fillRect/>
          </a:stretch>
        </p:blipFill>
        <p:spPr>
          <a:xfrm>
            <a:off x="4931869" y="1018477"/>
            <a:ext cx="6433082" cy="5211337"/>
          </a:xfrm>
          <a:prstGeom prst="rect">
            <a:avLst/>
          </a:prstGeom>
          <a:noFill/>
        </p:spPr>
      </p:pic>
      <p:sp>
        <p:nvSpPr>
          <p:cNvPr id="10" name="Content Placeholder 3">
            <a:extLst>
              <a:ext uri="{FF2B5EF4-FFF2-40B4-BE49-F238E27FC236}">
                <a16:creationId xmlns:a16="http://schemas.microsoft.com/office/drawing/2014/main" id="{91C6A6B8-2E97-45A9-E402-63325EF18E2D}"/>
              </a:ext>
            </a:extLst>
          </p:cNvPr>
          <p:cNvSpPr>
            <a:spLocks noGrp="1"/>
          </p:cNvSpPr>
          <p:nvPr>
            <p:ph sz="half" idx="2"/>
          </p:nvPr>
        </p:nvSpPr>
        <p:spPr>
          <a:xfrm>
            <a:off x="284356" y="1320938"/>
            <a:ext cx="4104764" cy="5168352"/>
          </a:xfrm>
        </p:spPr>
        <p:txBody>
          <a:bodyPr>
            <a:noAutofit/>
          </a:bodyPr>
          <a:lstStyle/>
          <a:p>
            <a:pPr marL="0" indent="0">
              <a:buNone/>
            </a:pPr>
            <a:endParaRPr lang="en-US" sz="1200" dirty="0">
              <a:solidFill>
                <a:srgbClr val="000000"/>
              </a:solidFill>
            </a:endParaRPr>
          </a:p>
          <a:p>
            <a:r>
              <a:rPr lang="en-US" sz="1200" dirty="0">
                <a:solidFill>
                  <a:srgbClr val="000000"/>
                </a:solidFill>
              </a:rPr>
              <a:t>"This model can reduce unnecessary discharge planning costs    by 33% (targeting only the 67% truly at-risk)"</a:t>
            </a:r>
          </a:p>
          <a:p>
            <a:r>
              <a:rPr lang="en-US" sz="1200" dirty="0">
                <a:solidFill>
                  <a:srgbClr val="000000"/>
                </a:solidFill>
              </a:rPr>
              <a:t> "95% sensitivity means we don't miss patients. From a   liability perspective, this is defensible."</a:t>
            </a:r>
          </a:p>
          <a:p>
            <a:r>
              <a:rPr lang="en-US" sz="1200" dirty="0">
                <a:solidFill>
                  <a:srgbClr val="000000"/>
                </a:solidFill>
              </a:rPr>
              <a:t>"Age + medications + diagnoses are objective, EHR-available data. No subjective judgments. Easier to implement."</a:t>
            </a:r>
          </a:p>
          <a:p>
            <a:r>
              <a:rPr lang="en-US" sz="1200" dirty="0">
                <a:solidFill>
                  <a:srgbClr val="000000"/>
                </a:solidFill>
              </a:rPr>
              <a:t> "Clear risk tiers (low 5.3%, mod 40.7%, high 92.9%) </a:t>
            </a:r>
          </a:p>
          <a:p>
            <a:r>
              <a:rPr lang="en-US" sz="1200" dirty="0">
                <a:solidFill>
                  <a:srgbClr val="000000"/>
                </a:solidFill>
              </a:rPr>
              <a:t>   enable differential care strategies that improve outcomes."</a:t>
            </a:r>
          </a:p>
          <a:p>
            <a:r>
              <a:rPr lang="en-US" sz="1200" dirty="0">
                <a:solidFill>
                  <a:srgbClr val="000000"/>
                </a:solidFill>
              </a:rPr>
              <a:t>"This model can be re-trained quarterly as hospital practices  evolve. It's maintainable and adaptable."</a:t>
            </a:r>
          </a:p>
          <a:p>
            <a:r>
              <a:rPr lang="en-US" sz="1200" dirty="0">
                <a:solidFill>
                  <a:srgbClr val="000000"/>
                </a:solidFill>
              </a:rPr>
              <a:t> "The 4-panel validation is publication-ready. Strong evidence   for peer-reviewed ML in Healthcare journals."</a:t>
            </a:r>
          </a:p>
        </p:txBody>
      </p:sp>
      <p:sp>
        <p:nvSpPr>
          <p:cNvPr id="6" name="Shape 1">
            <a:extLst>
              <a:ext uri="{FF2B5EF4-FFF2-40B4-BE49-F238E27FC236}">
                <a16:creationId xmlns:a16="http://schemas.microsoft.com/office/drawing/2014/main" id="{20875B4C-47AE-8F8E-D890-78533FE9E196}"/>
              </a:ext>
            </a:extLst>
          </p:cNvPr>
          <p:cNvSpPr/>
          <p:nvPr/>
        </p:nvSpPr>
        <p:spPr>
          <a:xfrm>
            <a:off x="284356" y="994093"/>
            <a:ext cx="10972800" cy="48768"/>
          </a:xfrm>
          <a:prstGeom prst="rect">
            <a:avLst/>
          </a:prstGeom>
          <a:solidFill>
            <a:srgbClr val="0066CC"/>
          </a:solidFill>
          <a:ln/>
        </p:spPr>
        <p:txBody>
          <a:bodyPr/>
          <a:lstStyle/>
          <a:p>
            <a:endParaRPr lang="en-US" sz="2400"/>
          </a:p>
        </p:txBody>
      </p:sp>
    </p:spTree>
    <p:extLst>
      <p:ext uri="{BB962C8B-B14F-4D97-AF65-F5344CB8AC3E}">
        <p14:creationId xmlns:p14="http://schemas.microsoft.com/office/powerpoint/2010/main" val="3754154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25C206-95BC-1181-D8B4-B84AA141EBA3}"/>
              </a:ext>
            </a:extLst>
          </p:cNvPr>
          <p:cNvSpPr>
            <a:spLocks noGrp="1"/>
          </p:cNvSpPr>
          <p:nvPr>
            <p:ph idx="1"/>
          </p:nvPr>
        </p:nvSpPr>
        <p:spPr/>
        <p:txBody>
          <a:bodyPr/>
          <a:lstStyle/>
          <a:p>
            <a:pPr marL="0" indent="0">
              <a:buNone/>
            </a:pPr>
            <a:r>
              <a:rPr lang="en-US" dirty="0"/>
              <a:t>                 </a:t>
            </a:r>
          </a:p>
          <a:p>
            <a:pPr marL="0" indent="0">
              <a:buNone/>
            </a:pPr>
            <a:endParaRPr lang="en-US" dirty="0"/>
          </a:p>
          <a:p>
            <a:pPr marL="0" indent="0">
              <a:buNone/>
            </a:pPr>
            <a:r>
              <a:rPr lang="en-US" dirty="0"/>
              <a:t>                            </a:t>
            </a:r>
            <a:r>
              <a:rPr lang="en-US" sz="7200" dirty="0"/>
              <a:t>Thank you </a:t>
            </a:r>
          </a:p>
        </p:txBody>
      </p:sp>
    </p:spTree>
    <p:extLst>
      <p:ext uri="{BB962C8B-B14F-4D97-AF65-F5344CB8AC3E}">
        <p14:creationId xmlns:p14="http://schemas.microsoft.com/office/powerpoint/2010/main" val="3246334813"/>
      </p:ext>
    </p:extLst>
  </p:cSld>
  <p:clrMapOvr>
    <a:masterClrMapping/>
  </p:clrMapOvr>
</p:sld>
</file>

<file path=ppt/theme/theme1.xml><?xml version="1.0" encoding="utf-8"?>
<a:theme xmlns:a="http://schemas.openxmlformats.org/drawingml/2006/main" name="Office Theme">
  <a:themeElements>
    <a:clrScheme name="Syracuse University Color Palette">
      <a:dk1>
        <a:srgbClr val="3F403F"/>
      </a:dk1>
      <a:lt1>
        <a:srgbClr val="FFFFFF"/>
      </a:lt1>
      <a:dk2>
        <a:srgbClr val="F76900"/>
      </a:dk2>
      <a:lt2>
        <a:srgbClr val="ADB3B8"/>
      </a:lt2>
      <a:accent1>
        <a:srgbClr val="000E54"/>
      </a:accent1>
      <a:accent2>
        <a:srgbClr val="FF431B"/>
      </a:accent2>
      <a:accent3>
        <a:srgbClr val="FF8E00"/>
      </a:accent3>
      <a:accent4>
        <a:srgbClr val="203299"/>
      </a:accent4>
      <a:accent5>
        <a:srgbClr val="2B72D7"/>
      </a:accent5>
      <a:accent6>
        <a:srgbClr val="F76900"/>
      </a:accent6>
      <a:hlink>
        <a:srgbClr val="D74100"/>
      </a:hlink>
      <a:folHlink>
        <a:srgbClr val="D74100"/>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F7641101-C844-A04A-B3C8-539BBB7B14CB}" vid="{52ED526C-0B2A-DE4C-9FC8-1B413ACCBB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3943116BF5824AB5252B9D1D4F4092" ma:contentTypeVersion="5" ma:contentTypeDescription="Create a new document." ma:contentTypeScope="" ma:versionID="a5b127ee3c00f002e7929f88da6b0721">
  <xsd:schema xmlns:xsd="http://www.w3.org/2001/XMLSchema" xmlns:xs="http://www.w3.org/2001/XMLSchema" xmlns:p="http://schemas.microsoft.com/office/2006/metadata/properties" xmlns:ns3="b275f84f-e0a7-49fd-b32a-15a5eee62090" targetNamespace="http://schemas.microsoft.com/office/2006/metadata/properties" ma:root="true" ma:fieldsID="4295d5cd7944aa766a79b1b2f16af6b9" ns3:_="">
    <xsd:import namespace="b275f84f-e0a7-49fd-b32a-15a5eee62090"/>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75f84f-e0a7-49fd-b32a-15a5eee620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b275f84f-e0a7-49fd-b32a-15a5eee6209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EFA589-1BD4-44EB-AC57-39C6C168C7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275f84f-e0a7-49fd-b32a-15a5eee620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DD250C-0031-497B-9C2F-4D646B28FF29}">
  <ds:schemaRefs>
    <ds:schemaRef ds:uri="http://purl.org/dc/elements/1.1/"/>
    <ds:schemaRef ds:uri="http://purl.org/dc/terms/"/>
    <ds:schemaRef ds:uri="http://schemas.microsoft.com/office/2006/metadata/properties"/>
    <ds:schemaRef ds:uri="http://schemas.openxmlformats.org/package/2006/metadata/core-properties"/>
    <ds:schemaRef ds:uri="http://schemas.microsoft.com/office/2006/documentManagement/types"/>
    <ds:schemaRef ds:uri="http://schemas.microsoft.com/office/infopath/2007/PartnerControls"/>
    <ds:schemaRef ds:uri="http://purl.org/dc/dcmitype/"/>
    <ds:schemaRef ds:uri="b275f84f-e0a7-49fd-b32a-15a5eee62090"/>
    <ds:schemaRef ds:uri="http://www.w3.org/XML/1998/namespace"/>
  </ds:schemaRefs>
</ds:datastoreItem>
</file>

<file path=customXml/itemProps3.xml><?xml version="1.0" encoding="utf-8"?>
<ds:datastoreItem xmlns:ds="http://schemas.openxmlformats.org/officeDocument/2006/customXml" ds:itemID="{B8C335AC-092F-4D63-A4CC-8EF145D230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25967</TotalTime>
  <Words>1142</Words>
  <Application>Microsoft Office PowerPoint</Application>
  <PresentationFormat>Widescreen</PresentationFormat>
  <Paragraphs>145</Paragraphs>
  <Slides>11</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Avenir</vt:lpstr>
      <vt:lpstr>Avenir Black</vt:lpstr>
      <vt:lpstr>Avenir Book</vt:lpstr>
      <vt:lpstr>Sherman Serif Book</vt:lpstr>
      <vt:lpstr>System Font Regular</vt:lpstr>
      <vt:lpstr>Times New Roman</vt:lpstr>
      <vt:lpstr>Wingdings</vt:lpstr>
      <vt:lpstr>Office Theme</vt:lpstr>
      <vt:lpstr>Clinical Decision Making in Healthcare  Pattern Recognition &amp; Predictive Analytics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Elena Parker</dc:creator>
  <cp:lastModifiedBy>Vamshikrishna Challa</cp:lastModifiedBy>
  <cp:revision>15</cp:revision>
  <dcterms:created xsi:type="dcterms:W3CDTF">2021-04-07T14:09:25Z</dcterms:created>
  <dcterms:modified xsi:type="dcterms:W3CDTF">2026-06-26T15:22:56Z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0x010100023943116BF5824AB5252B9D1D4F4092</vt:lpwstr>
  </property>
</Properties>
</file>